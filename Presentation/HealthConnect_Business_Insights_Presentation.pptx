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7.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8.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Patients</c:v>
                </c:pt>
              </c:strCache>
            </c:strRef>
          </c:tx>
          <c:spPr>
            <a:solidFill>
              <a:srgbClr val="2F7BFF"/>
            </a:solidFill>
            <a:effectLst/>
          </c:spPr>
          <c:invertIfNegative val="0"/>
          <c:dLbls>
            <c:numFmt formatCode="#,##0" sourceLinked="0"/>
            <c:txPr>
              <a:bodyPr/>
              <a:lstStyle/>
              <a:p>
                <a:pPr>
                  <a:defRPr b="0" i="0" strike="noStrike" sz="1100" u="none">
                    <a:solidFill>
                      <a:srgbClr val="FFFFFF"/>
                    </a:solidFill>
                    <a:latin typeface="Arial"/>
                  </a:defRPr>
                </a:pPr>
              </a:p>
            </c:txPr>
            <c:showLegendKey val="0"/>
            <c:showVal val="1"/>
            <c:showCatName val="0"/>
            <c:showSerName val="0"/>
            <c:showPercent val="0"/>
            <c:showBubbleSize val="0"/>
            <c:showLeaderLines val="0"/>
          </c:dLbls>
          <c:cat>
            <c:multiLvlStrRef>
              <c:f>Sheet1!$A$2:$A$4</c:f>
              <c:multiLvlStrCache>
                <c:ptCount val="3"/>
                <c:lvl>
                  <c:pt idx="0">
                    <c:v>Asthma</c:v>
                  </c:pt>
                  <c:pt idx="1">
                    <c:v>Hypertension</c:v>
                  </c:pt>
                  <c:pt idx="2">
                    <c:v>Diabetes</c:v>
                  </c:pt>
                </c:lvl>
              </c:multiLvlStrCache>
            </c:multiLvlStrRef>
          </c:cat>
          <c:val>
            <c:numRef>
              <c:f>Sheet1!$B$2:$B$4</c:f>
              <c:numCache>
                <c:formatCode>General</c:formatCode>
                <c:ptCount val="3"/>
                <c:pt idx="0">
                  <c:v>4996</c:v>
                </c:pt>
                <c:pt idx="1">
                  <c:v>4988</c:v>
                </c:pt>
                <c:pt idx="2">
                  <c:v>4945</c:v>
                </c:pt>
              </c:numCache>
            </c:numRef>
          </c:val>
        </c:ser>
        <c:dLbls>
          <c:numFmt formatCode="#,##0" sourceLinked="0"/>
          <c:txPr>
            <a:bodyPr/>
            <a:lstStyle/>
            <a:p>
              <a:pPr>
                <a:defRPr b="0" i="0" strike="noStrike" sz="11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9FB3CE"/>
                </a:solidFill>
                <a:latin typeface="Calibri"/>
              </a:defRPr>
            </a:pPr>
            <a:endParaRPr lang="en-US"/>
          </a:p>
        </c:txPr>
        <c:crossAx val="2094734552"/>
        <c:crosses val="autoZero"/>
        <c:auto val="1"/>
        <c:lblAlgn val="ctr"/>
        <c:noMultiLvlLbl val="1"/>
      </c:catAx>
      <c:valAx>
        <c:axId val="2094734552"/>
        <c:scaling>
          <c:orientation val="minMax"/>
          <c:max val="6000"/>
          <c:min val="0"/>
        </c:scaling>
        <c:delete val="0"/>
        <c:axPos val="b"/>
        <c:majorGridlines>
          <c:spPr>
            <a:ln w="6350" cap="flat">
              <a:solidFill>
                <a:srgbClr val="1F3D6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9FB3CE"/>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Visit type</c:v>
                </c:pt>
              </c:strCache>
            </c:strRef>
          </c:tx>
          <c:spPr>
            <a:solidFill>
              <a:schemeClr val="accent1"/>
            </a:solidFill>
            <a:ln w="9525" cap="flat">
              <a:solidFill>
                <a:srgbClr val="F9F9F9"/>
              </a:solidFill>
              <a:prstDash val="solid"/>
              <a:round/>
            </a:ln>
            <a:effectLst/>
          </c:spPr>
          <c:dPt>
            <c:idx val="0"/>
            <c:bubble3D val="0"/>
            <c:spPr>
              <a:solidFill>
                <a:srgbClr val="2F7BFF"/>
              </a:solidFill>
              <a:effectLst/>
            </c:spPr>
          </c:dPt>
          <c:dPt>
            <c:idx val="1"/>
            <c:bubble3D val="0"/>
            <c:spPr>
              <a:solidFill>
                <a:srgbClr val="1ABC9C"/>
              </a:solidFill>
              <a:effectLst/>
            </c:spPr>
          </c:dPt>
          <c:dPt>
            <c:idx val="2"/>
            <c:bubble3D val="0"/>
            <c:spPr>
              <a:solidFill>
                <a:srgbClr val="E5484D"/>
              </a:solidFill>
              <a:effectLst/>
            </c:spPr>
          </c:dPt>
          <c:dLbls>
            <c:dLbl>
              <c:idx val="0"/>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Follow-up</c:v>
                </c:pt>
                <c:pt idx="1">
                  <c:v>Consultation</c:v>
                </c:pt>
                <c:pt idx="2">
                  <c:v>Emergency</c:v>
                </c:pt>
              </c:strCache>
            </c:strRef>
          </c:cat>
          <c:val>
            <c:numRef>
              <c:f>Sheet1!$B$2:$B$4</c:f>
              <c:numCache>
                <c:ptCount val="3"/>
                <c:pt idx="0">
                  <c:v>1694</c:v>
                </c:pt>
                <c:pt idx="1">
                  <c:v>1656</c:v>
                </c:pt>
                <c:pt idx="2">
                  <c:v>1650</c:v>
                </c:pt>
              </c:numCache>
            </c:numRef>
          </c:val>
        </c:ser>
        <c:firstSliceAng val="0"/>
        <c:holeSize val="55"/>
      </c:doughnutChart>
      <c:spPr>
        <a:noFill/>
        <a:ln>
          <a:noFill/>
        </a:ln>
        <a:effectLst/>
      </c:spPr>
    </c:plotArea>
    <c:legend>
      <c:legendPos val="b"/>
      <c:overlay val="0"/>
      <c:txPr>
        <a:bodyPr/>
        <a:lstStyle/>
        <a:p>
          <a:pPr>
            <a:defRPr sz="1200">
              <a:solidFill>
                <a:srgbClr val="D6E2F3"/>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Cases</c:v>
                </c:pt>
              </c:strCache>
            </c:strRef>
          </c:tx>
          <c:spPr>
            <a:solidFill>
              <a:srgbClr val="7B4DFF"/>
            </a:solidFill>
            <a:effectLst/>
          </c:spPr>
          <c:invertIfNegative val="0"/>
          <c:dLbls>
            <c:numFmt formatCode="#,##0" sourceLinked="0"/>
            <c:txPr>
              <a:bodyPr/>
              <a:lstStyle/>
              <a:p>
                <a:pPr>
                  <a:defRPr b="0" i="0" strike="noStrike" sz="11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Gastritis</c:v>
                  </c:pt>
                  <c:pt idx="1">
                    <c:v>Diabetes</c:v>
                  </c:pt>
                  <c:pt idx="2">
                    <c:v>Hypertension</c:v>
                  </c:pt>
                  <c:pt idx="3">
                    <c:v>Malaria</c:v>
                  </c:pt>
                  <c:pt idx="4">
                    <c:v>Upper Resp. Infection</c:v>
                  </c:pt>
                </c:lvl>
              </c:multiLvlStrCache>
            </c:multiLvlStrRef>
          </c:cat>
          <c:val>
            <c:numRef>
              <c:f>Sheet1!$B$2:$B$6</c:f>
              <c:numCache>
                <c:formatCode>General</c:formatCode>
                <c:ptCount val="5"/>
                <c:pt idx="0">
                  <c:v>12208</c:v>
                </c:pt>
                <c:pt idx="1">
                  <c:v>12083</c:v>
                </c:pt>
                <c:pt idx="2">
                  <c:v>12075</c:v>
                </c:pt>
                <c:pt idx="3">
                  <c:v>11878</c:v>
                </c:pt>
                <c:pt idx="4">
                  <c:v>11756</c:v>
                </c:pt>
              </c:numCache>
            </c:numRef>
          </c:val>
        </c:ser>
        <c:dLbls>
          <c:numFmt formatCode="#,##0" sourceLinked="0"/>
          <c:txPr>
            <a:bodyPr/>
            <a:lstStyle/>
            <a:p>
              <a:pPr>
                <a:defRPr b="0" i="0" strike="noStrike" sz="11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9FB3CE"/>
                </a:solidFill>
                <a:latin typeface="Calibri"/>
              </a:defRPr>
            </a:pPr>
            <a:endParaRPr lang="en-US"/>
          </a:p>
        </c:txPr>
        <c:crossAx val="2094734552"/>
        <c:crosses val="autoZero"/>
        <c:auto val="1"/>
        <c:lblAlgn val="ctr"/>
        <c:noMultiLvlLbl val="1"/>
      </c:catAx>
      <c:valAx>
        <c:axId val="2094734552"/>
        <c:scaling>
          <c:orientation val="minMax"/>
          <c:min val="0"/>
        </c:scaling>
        <c:delete val="0"/>
        <c:axPos val="b"/>
        <c:majorGridlines>
          <c:spPr>
            <a:ln w="6350" cap="flat">
              <a:solidFill>
                <a:srgbClr val="1F3D6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9FB3CE"/>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Billed (millions)</c:v>
                </c:pt>
              </c:strCache>
            </c:strRef>
          </c:tx>
          <c:spPr>
            <a:solidFill>
              <a:srgbClr val="2F7BFF"/>
            </a:solidFill>
            <a:ln w="31750" cap="flat">
              <a:solidFill>
                <a:srgbClr val="2F7BFF"/>
              </a:solidFill>
              <a:prstDash val="solid"/>
              <a:round/>
            </a:ln>
            <a:effectLst/>
          </c:spPr>
          <c:invertIfNegative val="0"/>
          <c:dLbls>
            <c:numFmt formatCode="#,##0" sourceLinked="0"/>
            <c:txPr>
              <a:bodyPr/>
              <a:lstStyle/>
              <a:p>
                <a:pPr>
                  <a:defRPr b="0" i="0" strike="noStrike" sz="1100" u="none">
                    <a:solidFill>
                      <a:srgbClr val="FFFFFF"/>
                    </a:solidFill>
                    <a:latin typeface="Arial"/>
                  </a:defRPr>
                </a:pPr>
              </a:p>
            </c:txPr>
            <c:showLegendKey val="0"/>
            <c:showVal val="0"/>
            <c:showCatName val="0"/>
            <c:showSerName val="0"/>
            <c:showPercent val="0"/>
            <c:showBubbleSize val="0"/>
            <c:showLeaderLines val="0"/>
          </c:dLbls>
          <c:marker>
            <c:symbol val="circle"/>
            <c:size val="7"/>
            <c:spPr>
              <a:solidFill>
                <a:srgbClr val="2F7BFF"/>
              </a:solidFill>
              <a:ln w="9525" cap="flat">
                <a:solidFill>
                  <a:srgbClr val="2F7BFF"/>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63.8</c:v>
                </c:pt>
                <c:pt idx="1">
                  <c:v>64.3</c:v>
                </c:pt>
                <c:pt idx="2">
                  <c:v>69.2</c:v>
                </c:pt>
                <c:pt idx="3">
                  <c:v>63.5</c:v>
                </c:pt>
                <c:pt idx="4">
                  <c:v>60.8</c:v>
                </c:pt>
                <c:pt idx="5">
                  <c:v>70.2</c:v>
                </c:pt>
                <c:pt idx="6">
                  <c:v>64.6</c:v>
                </c:pt>
                <c:pt idx="7">
                  <c:v>69.1</c:v>
                </c:pt>
                <c:pt idx="8">
                  <c:v>57.2</c:v>
                </c:pt>
                <c:pt idx="9">
                  <c:v>63.1</c:v>
                </c:pt>
                <c:pt idx="10">
                  <c:v>64.5</c:v>
                </c:pt>
                <c:pt idx="11">
                  <c:v>60.8</c:v>
                </c:pt>
              </c:numCache>
            </c:numRef>
          </c:val>
          <c:smooth val="0"/>
        </c:ser>
        <c:dLbls>
          <c:numFmt formatCode="#,##0" sourceLinked="0"/>
          <c:txPr>
            <a:bodyPr/>
            <a:lstStyle/>
            <a:p>
              <a:pPr>
                <a:defRPr b="0" i="0" strike="noStrike" sz="1100" u="none">
                  <a:solidFill>
                    <a:srgbClr val="FFFFFF"/>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9FB3CE"/>
                </a:solidFill>
                <a:latin typeface="Calibri"/>
              </a:defRPr>
            </a:pPr>
            <a:endParaRPr lang="en-US"/>
          </a:p>
        </c:txPr>
        <c:crossAx val="2094734552"/>
        <c:crosses val="autoZero"/>
        <c:auto val="1"/>
        <c:lblAlgn val="ctr"/>
        <c:noMultiLvlLbl val="1"/>
      </c:catAx>
      <c:valAx>
        <c:axId val="2094734552"/>
        <c:scaling>
          <c:orientation val="minMax"/>
          <c:max val="75"/>
          <c:min val="50"/>
        </c:scaling>
        <c:delete val="0"/>
        <c:axPos val="l"/>
        <c:majorGridlines>
          <c:spPr>
            <a:ln w="6350" cap="flat">
              <a:solidFill>
                <a:srgbClr val="1F3D6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9FB3CE"/>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Payments (bn)</c:v>
                </c:pt>
              </c:strCache>
            </c:strRef>
          </c:tx>
          <c:spPr>
            <a:solidFill>
              <a:srgbClr val="2F7BFF"/>
            </a:solidFill>
            <a:effectLst/>
          </c:spPr>
          <c:invertIfNegative val="0"/>
          <c:dLbls>
            <c:numFmt formatCode="0.00" sourceLinked="0"/>
            <c:txPr>
              <a:bodyPr/>
              <a:lstStyle/>
              <a:p>
                <a:pPr>
                  <a:defRPr b="0" i="0" strike="noStrike" sz="11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Card</c:v>
                  </c:pt>
                  <c:pt idx="1">
                    <c:v>Mobile Money</c:v>
                  </c:pt>
                  <c:pt idx="2">
                    <c:v>Insurance</c:v>
                  </c:pt>
                  <c:pt idx="3">
                    <c:v>Cash</c:v>
                  </c:pt>
                </c:lvl>
              </c:multiLvlStrCache>
            </c:multiLvlStrRef>
          </c:cat>
          <c:val>
            <c:numRef>
              <c:f>Sheet1!$B$2:$B$5</c:f>
              <c:numCache>
                <c:formatCode>General</c:formatCode>
                <c:ptCount val="4"/>
                <c:pt idx="0">
                  <c:v>2.12</c:v>
                </c:pt>
                <c:pt idx="1">
                  <c:v>2.1</c:v>
                </c:pt>
                <c:pt idx="2">
                  <c:v>2.09</c:v>
                </c:pt>
                <c:pt idx="3">
                  <c:v>2.07</c:v>
                </c:pt>
              </c:numCache>
            </c:numRef>
          </c:val>
        </c:ser>
        <c:dLbls>
          <c:numFmt formatCode="0.00" sourceLinked="0"/>
          <c:txPr>
            <a:bodyPr/>
            <a:lstStyle/>
            <a:p>
              <a:pPr>
                <a:defRPr b="0" i="0" strike="noStrike" sz="11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9FB3CE"/>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1F3D6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9FB3CE"/>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Claims (bn)</c:v>
                </c:pt>
              </c:strCache>
            </c:strRef>
          </c:tx>
          <c:spPr>
            <a:solidFill>
              <a:srgbClr val="1ABC9C"/>
            </a:solidFill>
            <a:effectLst/>
          </c:spPr>
          <c:invertIfNegative val="0"/>
          <c:dLbls>
            <c:numFmt formatCode="0.00" sourceLinked="0"/>
            <c:txPr>
              <a:bodyPr/>
              <a:lstStyle/>
              <a:p>
                <a:pPr>
                  <a:defRPr b="0" i="0" strike="noStrike" sz="11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Radiant</c:v>
                  </c:pt>
                  <c:pt idx="1">
                    <c:v>Private</c:v>
                  </c:pt>
                  <c:pt idx="2">
                    <c:v>RSSB</c:v>
                  </c:pt>
                  <c:pt idx="3">
                    <c:v>MMI</c:v>
                  </c:pt>
                </c:lvl>
              </c:multiLvlStrCache>
            </c:multiLvlStrRef>
          </c:cat>
          <c:val>
            <c:numRef>
              <c:f>Sheet1!$B$2:$B$5</c:f>
              <c:numCache>
                <c:formatCode>General</c:formatCode>
                <c:ptCount val="4"/>
                <c:pt idx="0">
                  <c:v>1.24</c:v>
                </c:pt>
                <c:pt idx="1">
                  <c:v>1.22</c:v>
                </c:pt>
                <c:pt idx="2">
                  <c:v>1.21</c:v>
                </c:pt>
                <c:pt idx="3">
                  <c:v>1.21</c:v>
                </c:pt>
              </c:numCache>
            </c:numRef>
          </c:val>
        </c:ser>
        <c:dLbls>
          <c:numFmt formatCode="0.00" sourceLinked="0"/>
          <c:txPr>
            <a:bodyPr/>
            <a:lstStyle/>
            <a:p>
              <a:pPr>
                <a:defRPr b="0" i="0" strike="noStrike" sz="11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9FB3CE"/>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1F3D6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9FB3CE"/>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Staff</c:v>
                </c:pt>
              </c:strCache>
            </c:strRef>
          </c:tx>
          <c:spPr>
            <a:solidFill>
              <a:srgbClr val="2F7BFF"/>
            </a:solidFill>
            <a:effectLst/>
          </c:spPr>
          <c:invertIfNegative val="0"/>
          <c:dLbls>
            <c:numFmt formatCode="#,##0" sourceLinked="0"/>
            <c:txPr>
              <a:bodyPr/>
              <a:lstStyle/>
              <a:p>
                <a:pPr>
                  <a:defRPr b="0" i="0" strike="noStrike" sz="1100" u="none">
                    <a:solidFill>
                      <a:srgbClr val="FFFFFF"/>
                    </a:solidFill>
                    <a:latin typeface="Arial"/>
                  </a:defRPr>
                </a:pPr>
              </a:p>
            </c:txPr>
            <c:showLegendKey val="0"/>
            <c:showVal val="1"/>
            <c:showCatName val="0"/>
            <c:showSerName val="0"/>
            <c:showPercent val="0"/>
            <c:showBubbleSize val="0"/>
            <c:showLeaderLines val="0"/>
          </c:dLbls>
          <c:cat>
            <c:multiLvlStrRef>
              <c:f>Sheet1!$A$2:$A$7</c:f>
              <c:multiLvlStrCache>
                <c:ptCount val="6"/>
                <c:lvl>
                  <c:pt idx="0">
                    <c:v>Nurses</c:v>
                  </c:pt>
                  <c:pt idx="1">
                    <c:v>Doctors</c:v>
                  </c:pt>
                  <c:pt idx="2">
                    <c:v>Admin</c:v>
                  </c:pt>
                  <c:pt idx="3">
                    <c:v>Pharmacists</c:v>
                  </c:pt>
                  <c:pt idx="4">
                    <c:v>Lab scientists</c:v>
                  </c:pt>
                  <c:pt idx="5">
                    <c:v>Radiographers</c:v>
                  </c:pt>
                </c:lvl>
              </c:multiLvlStrCache>
            </c:multiLvlStrRef>
          </c:cat>
          <c:val>
            <c:numRef>
              <c:f>Sheet1!$B$2:$B$7</c:f>
              <c:numCache>
                <c:formatCode>General</c:formatCode>
                <c:ptCount val="6"/>
                <c:pt idx="0">
                  <c:v>700</c:v>
                </c:pt>
                <c:pt idx="1">
                  <c:v>350</c:v>
                </c:pt>
                <c:pt idx="2">
                  <c:v>80</c:v>
                </c:pt>
                <c:pt idx="3">
                  <c:v>50</c:v>
                </c:pt>
                <c:pt idx="4">
                  <c:v>40</c:v>
                </c:pt>
                <c:pt idx="5">
                  <c:v>30</c:v>
                </c:pt>
              </c:numCache>
            </c:numRef>
          </c:val>
        </c:ser>
        <c:dLbls>
          <c:numFmt formatCode="#,##0" sourceLinked="0"/>
          <c:txPr>
            <a:bodyPr/>
            <a:lstStyle/>
            <a:p>
              <a:pPr>
                <a:defRPr b="0" i="0" strike="noStrike" sz="11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9FB3CE"/>
                </a:solidFill>
                <a:latin typeface="Calibri"/>
              </a:defRPr>
            </a:pPr>
            <a:endParaRPr lang="en-US"/>
          </a:p>
        </c:txPr>
        <c:crossAx val="2094734552"/>
        <c:crosses val="autoZero"/>
        <c:auto val="1"/>
        <c:lblAlgn val="ctr"/>
        <c:noMultiLvlLbl val="1"/>
      </c:catAx>
      <c:valAx>
        <c:axId val="2094734552"/>
        <c:scaling>
          <c:orientation val="minMax"/>
          <c:min val="0"/>
        </c:scaling>
        <c:delete val="0"/>
        <c:axPos val="b"/>
        <c:majorGridlines>
          <c:spPr>
            <a:ln w="6350" cap="flat">
              <a:solidFill>
                <a:srgbClr val="1F3D6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9FB3CE"/>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Responses</c:v>
                </c:pt>
              </c:strCache>
            </c:strRef>
          </c:tx>
          <c:spPr>
            <a:solidFill>
              <a:srgbClr val="E5484D"/>
            </a:solidFill>
            <a:effectLst/>
          </c:spPr>
          <c:invertIfNegative val="0"/>
          <c:dLbls>
            <c:numFmt formatCode="#,##0" sourceLinked="0"/>
            <c:txPr>
              <a:bodyPr/>
              <a:lstStyle/>
              <a:p>
                <a:pPr>
                  <a:defRPr b="0" i="0" strike="noStrike" sz="1100" u="none">
                    <a:solidFill>
                      <a:srgbClr val="FFFFFF"/>
                    </a:solidFill>
                    <a:latin typeface="Arial"/>
                  </a:defRPr>
                </a:pPr>
              </a:p>
            </c:txPr>
            <c:showLegendKey val="0"/>
            <c:showVal val="1"/>
            <c:showCatName val="0"/>
            <c:showSerName val="0"/>
            <c:showPercent val="0"/>
            <c:showBubbleSize val="0"/>
            <c:showLeaderLines val="0"/>
          </c:dLbls>
          <c:dPt>
            <c:idx val="0"/>
            <c:invertIfNegative val="0"/>
            <c:bubble3D val="0"/>
            <c:spPr>
              <a:solidFill>
                <a:srgbClr val="E5484D"/>
              </a:solidFill>
              <a:effectLst/>
            </c:spPr>
          </c:dPt>
          <c:dPt>
            <c:idx val="1"/>
            <c:invertIfNegative val="0"/>
            <c:bubble3D val="0"/>
            <c:spPr>
              <a:solidFill>
                <a:srgbClr val="E5484D"/>
              </a:solidFill>
              <a:effectLst/>
            </c:spPr>
          </c:dPt>
          <c:dPt>
            <c:idx val="2"/>
            <c:invertIfNegative val="0"/>
            <c:bubble3D val="0"/>
            <c:spPr>
              <a:solidFill>
                <a:srgbClr val="F5A623"/>
              </a:solidFill>
              <a:effectLst/>
            </c:spPr>
          </c:dPt>
          <c:dPt>
            <c:idx val="3"/>
            <c:invertIfNegative val="0"/>
            <c:bubble3D val="0"/>
            <c:spPr>
              <a:solidFill>
                <a:srgbClr val="1ABC9C"/>
              </a:solidFill>
              <a:effectLst/>
            </c:spPr>
          </c:dPt>
          <c:dPt>
            <c:idx val="4"/>
            <c:invertIfNegative val="0"/>
            <c:bubble3D val="0"/>
            <c:spPr>
              <a:solidFill>
                <a:srgbClr val="1ABC9C"/>
              </a:solidFill>
              <a:effectLst/>
            </c:spPr>
          </c:dPt>
          <c:cat>
            <c:multiLvlStrRef>
              <c:f>Sheet1!$A$2:$A$6</c:f>
              <c:multiLvlStrCache>
                <c:ptCount val="5"/>
                <c:lvl>
                  <c:pt idx="0">
                    <c:v>1 star</c:v>
                  </c:pt>
                  <c:pt idx="1">
                    <c:v>2 stars</c:v>
                  </c:pt>
                  <c:pt idx="2">
                    <c:v>3 stars</c:v>
                  </c:pt>
                  <c:pt idx="3">
                    <c:v>4 stars</c:v>
                  </c:pt>
                  <c:pt idx="4">
                    <c:v>5 stars</c:v>
                  </c:pt>
                </c:lvl>
              </c:multiLvlStrCache>
            </c:multiLvlStrRef>
          </c:cat>
          <c:val>
            <c:numRef>
              <c:f>Sheet1!$B$2:$B$6</c:f>
              <c:numCache>
                <c:formatCode>General</c:formatCode>
                <c:ptCount val="5"/>
                <c:pt idx="0">
                  <c:v>4245</c:v>
                </c:pt>
                <c:pt idx="1">
                  <c:v>4273</c:v>
                </c:pt>
                <c:pt idx="2">
                  <c:v>4202</c:v>
                </c:pt>
                <c:pt idx="3">
                  <c:v>4195</c:v>
                </c:pt>
                <c:pt idx="4">
                  <c:v>4149</c:v>
                </c:pt>
              </c:numCache>
            </c:numRef>
          </c:val>
        </c:ser>
        <c:dLbls>
          <c:numFmt formatCode="#,##0" sourceLinked="0"/>
          <c:txPr>
            <a:bodyPr/>
            <a:lstStyle/>
            <a:p>
              <a:pPr>
                <a:defRPr b="0" i="0" strike="noStrike" sz="11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9FB3CE"/>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1F3D6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9FB3CE"/>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and the five areas the analysis covers. Say at the outset that the findings rest on a subset of appointments and on billing without dates, and that both limits are covered on slide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project around the decisions it supports: where to focus on patients, operations and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contrast is between 60,000 bills and 5,000 appointments with full detail. Explain that this gap drives the limits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limits before the findings. Currency is not stated in the source data, so amounts are shown without a currency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SQL results and the Power BI figures were compared with each other before the dashboard was finalised.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patient has an insurance ID, so insurance coverage cannot be split by patient. Claims are shown on the financial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Visit types are almost equal in size, so no single type drives workload. Gastritis is the most common of five diagnoses.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basis: the trend covers the 5,000 matched bills. The full 9.31bn cannot be split by month because bills have no 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Payment methods and claim providers each sit close to one quarter of the total, so no single method or insurer dominates.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data gap rather than a finding about performance. Recording occupancy and usage would allow utilisation to be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Ratings are spread almost evenly, so the average sits in the middle of the scale. The complaint rate is the clearest concern. Feedback has no dates, so trends cannot be tracked.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Recommendations 1 and 2 would change the findings most. Recommendation 4 is the most direct patient-experience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the two priorities, then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A33"/>
        </a:solidFill>
      </p:bgPr>
    </p:bg>
    <p:spTree>
      <p:nvGrpSpPr>
        <p:cNvPr id="1" name=""/>
        <p:cNvGrpSpPr/>
        <p:nvPr/>
      </p:nvGrpSpPr>
      <p:grpSpPr>
        <a:xfrm>
          <a:off x="0" y="0"/>
          <a:ext cx="0" cy="0"/>
          <a:chOff x="0" y="0"/>
          <a:chExt cx="0" cy="0"/>
        </a:xfrm>
      </p:grpSpPr>
      <p:sp>
        <p:nvSpPr>
          <p:cNvPr id="2" name="Shape 0"/>
          <p:cNvSpPr/>
          <p:nvPr/>
        </p:nvSpPr>
        <p:spPr>
          <a:xfrm>
            <a:off x="548640" y="2194560"/>
            <a:ext cx="109728" cy="1463040"/>
          </a:xfrm>
          <a:prstGeom prst="rect">
            <a:avLst/>
          </a:prstGeom>
          <a:solidFill>
            <a:srgbClr val="2F7BFF"/>
          </a:solidFill>
          <a:ln w="12700">
            <a:solidFill>
              <a:srgbClr val="2F7BFF"/>
            </a:solidFill>
            <a:prstDash val="solid"/>
          </a:ln>
        </p:spPr>
      </p:sp>
      <p:sp>
        <p:nvSpPr>
          <p:cNvPr id="3" name="Text 1"/>
          <p:cNvSpPr txBox="1"/>
          <p:nvPr/>
        </p:nvSpPr>
        <p:spPr>
          <a:xfrm>
            <a:off x="868680" y="2103120"/>
            <a:ext cx="10058400" cy="73152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HealthConnect Rwanda</a:t>
            </a:r>
            <a:endParaRPr lang="en-US" sz="4000" dirty="0"/>
          </a:p>
        </p:txBody>
      </p:sp>
      <p:sp>
        <p:nvSpPr>
          <p:cNvPr id="4" name="Text 2"/>
          <p:cNvSpPr txBox="1"/>
          <p:nvPr/>
        </p:nvSpPr>
        <p:spPr>
          <a:xfrm>
            <a:off x="868680" y="2880360"/>
            <a:ext cx="10058400" cy="731520"/>
          </a:xfrm>
          <a:prstGeom prst="rect">
            <a:avLst/>
          </a:prstGeom>
          <a:noFill/>
          <a:ln/>
        </p:spPr>
        <p:txBody>
          <a:bodyPr wrap="square" lIns="0" tIns="0" rIns="0" bIns="0" rtlCol="0" anchor="ctr"/>
          <a:lstStyle/>
          <a:p>
            <a:pPr indent="0" marL="0">
              <a:buNone/>
            </a:pPr>
            <a:r>
              <a:rPr lang="en-US" sz="1800" dirty="0">
                <a:solidFill>
                  <a:srgbClr val="D6E2F3"/>
                </a:solidFill>
                <a:latin typeface="Calibri" pitchFamily="34" charset="0"/>
                <a:ea typeface="Calibri" pitchFamily="34" charset="-122"/>
                <a:cs typeface="Calibri" pitchFamily="34" charset="-120"/>
              </a:rPr>
              <a:t>Business Insights: patients, clinical activity, billing, operations and patient experience</a:t>
            </a:r>
            <a:endParaRPr lang="en-US" sz="1800" dirty="0"/>
          </a:p>
        </p:txBody>
      </p:sp>
      <p:sp>
        <p:nvSpPr>
          <p:cNvPr id="5" name="Text 3"/>
          <p:cNvSpPr txBox="1"/>
          <p:nvPr/>
        </p:nvSpPr>
        <p:spPr>
          <a:xfrm>
            <a:off x="868680" y="4114800"/>
            <a:ext cx="10058400" cy="365760"/>
          </a:xfrm>
          <a:prstGeom prst="rect">
            <a:avLst/>
          </a:prstGeom>
          <a:noFill/>
          <a:ln/>
        </p:spPr>
        <p:txBody>
          <a:bodyPr wrap="square" lIns="0" tIns="0" rIns="0" bIns="0" rtlCol="0" anchor="ctr"/>
          <a:lstStyle/>
          <a:p>
            <a:pPr indent="0" marL="0">
              <a:buNone/>
            </a:pPr>
            <a:r>
              <a:rPr lang="en-US" sz="1300" dirty="0">
                <a:solidFill>
                  <a:srgbClr val="9FB3CE"/>
                </a:solidFill>
                <a:latin typeface="Calibri" pitchFamily="34" charset="0"/>
                <a:ea typeface="Calibri" pitchFamily="34" charset="-122"/>
                <a:cs typeface="Calibri" pitchFamily="34" charset="-120"/>
              </a:rPr>
              <a:t>Data Analytics track  |  Week 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A33"/>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F7BFF"/>
          </a:solidFill>
          <a:ln w="12700">
            <a:solidFill>
              <a:srgbClr val="2F7BFF"/>
            </a:solidFill>
            <a:prstDash val="solid"/>
          </a:ln>
        </p:spPr>
      </p:sp>
      <p:sp>
        <p:nvSpPr>
          <p:cNvPr id="3" name="Text 1"/>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100" kern="0" dirty="0">
                <a:solidFill>
                  <a:srgbClr val="1ABC9C"/>
                </a:solidFill>
                <a:latin typeface="Calibri" pitchFamily="34" charset="0"/>
                <a:ea typeface="Calibri" pitchFamily="34" charset="-122"/>
                <a:cs typeface="Calibri" pitchFamily="34" charset="-120"/>
              </a:rPr>
              <a:t>CONTEXT AND OBJECTIVES</a:t>
            </a:r>
            <a:endParaRPr lang="en-US" sz="1100" dirty="0"/>
          </a:p>
        </p:txBody>
      </p:sp>
      <p:sp>
        <p:nvSpPr>
          <p:cNvPr id="4" name="Text 2"/>
          <p:cNvSpPr txBox="1"/>
          <p:nvPr/>
        </p:nvSpPr>
        <p:spPr>
          <a:xfrm>
            <a:off x="548640" y="594360"/>
            <a:ext cx="11064240" cy="822960"/>
          </a:xfrm>
          <a:prstGeom prst="rect">
            <a:avLst/>
          </a:prstGeom>
          <a:noFill/>
          <a:ln/>
        </p:spPr>
        <p:txBody>
          <a:bodyPr wrap="square" lIns="0" tIns="0" rIns="0" bIns="0" rtlCol="0" anchor="t"/>
          <a:lstStyle/>
          <a:p>
            <a:pPr indent="0" marL="0">
              <a:buNone/>
            </a:pPr>
            <a:r>
              <a:rPr lang="en-US" sz="2800" b="1" dirty="0">
                <a:solidFill>
                  <a:srgbClr val="FFFFFF"/>
                </a:solidFill>
                <a:latin typeface="Calibri" pitchFamily="34" charset="0"/>
                <a:ea typeface="Calibri" pitchFamily="34" charset="-122"/>
                <a:cs typeface="Calibri" pitchFamily="34" charset="-120"/>
              </a:rPr>
              <a:t>Why this analysis matters</a:t>
            </a:r>
            <a:endParaRPr lang="en-US" sz="2800" dirty="0"/>
          </a:p>
        </p:txBody>
      </p:sp>
      <p:sp>
        <p:nvSpPr>
          <p:cNvPr id="5" name="Text 3"/>
          <p:cNvSpPr txBox="1"/>
          <p:nvPr/>
        </p:nvSpPr>
        <p:spPr>
          <a:xfrm>
            <a:off x="548640" y="1737360"/>
            <a:ext cx="6583680" cy="41148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D6E2F3"/>
                </a:solidFill>
                <a:latin typeface="Calibri" pitchFamily="34" charset="0"/>
                <a:ea typeface="Calibri" pitchFamily="34" charset="-122"/>
                <a:cs typeface="Calibri" pitchFamily="34" charset="-120"/>
              </a:rPr>
              <a:t>HealthConnect Rwanda needs one view of patients, clinical activity, billing and patient experience.</a:t>
            </a:r>
            <a:endParaRPr lang="en-US" sz="1800" dirty="0"/>
          </a:p>
          <a:p>
            <a:pPr marL="342900" indent="-342900">
              <a:spcAft>
                <a:spcPts val="1000"/>
              </a:spcAft>
              <a:buSzPct val="100000"/>
              <a:buChar char="•"/>
            </a:pPr>
            <a:r>
              <a:rPr lang="en-US" sz="1800" dirty="0">
                <a:solidFill>
                  <a:srgbClr val="D6E2F3"/>
                </a:solidFill>
                <a:latin typeface="Calibri" pitchFamily="34" charset="0"/>
                <a:ea typeface="Calibri" pitchFamily="34" charset="-122"/>
                <a:cs typeface="Calibri" pitchFamily="34" charset="-120"/>
              </a:rPr>
              <a:t>The objective: turn 27 source tables into a dashboard and a set of recommendations management can act on.</a:t>
            </a:r>
            <a:endParaRPr lang="en-US" sz="1800" dirty="0"/>
          </a:p>
          <a:p>
            <a:pPr marL="342900" indent="-342900">
              <a:spcAft>
                <a:spcPts val="1000"/>
              </a:spcAft>
              <a:buSzPct val="100000"/>
              <a:buChar char="•"/>
            </a:pPr>
            <a:r>
              <a:rPr lang="en-US" sz="1800" dirty="0">
                <a:solidFill>
                  <a:srgbClr val="D6E2F3"/>
                </a:solidFill>
                <a:latin typeface="Calibri" pitchFamily="34" charset="0"/>
                <a:ea typeface="Calibri" pitchFamily="34" charset="-122"/>
                <a:cs typeface="Calibri" pitchFamily="34" charset="-120"/>
              </a:rPr>
              <a:t>Each finding states its basis, so the figures can be checked against the data.</a:t>
            </a:r>
            <a:endParaRPr lang="en-US" sz="1800" dirty="0"/>
          </a:p>
        </p:txBody>
      </p:sp>
      <p:sp>
        <p:nvSpPr>
          <p:cNvPr id="6" name="Shape 4"/>
          <p:cNvSpPr/>
          <p:nvPr/>
        </p:nvSpPr>
        <p:spPr>
          <a:xfrm>
            <a:off x="7863840" y="1737360"/>
            <a:ext cx="3749040" cy="1234440"/>
          </a:xfrm>
          <a:prstGeom prst="roundRect">
            <a:avLst>
              <a:gd name="adj" fmla="val 7407"/>
            </a:avLst>
          </a:prstGeom>
          <a:solidFill>
            <a:srgbClr val="12264A">
              <a:alpha val="70000"/>
            </a:srgbClr>
          </a:solidFill>
          <a:ln w="15875">
            <a:solidFill>
              <a:srgbClr val="2F7BFF"/>
            </a:solidFill>
            <a:prstDash val="solid"/>
          </a:ln>
        </p:spPr>
      </p:sp>
      <p:sp>
        <p:nvSpPr>
          <p:cNvPr id="7" name="Text 5"/>
          <p:cNvSpPr txBox="1"/>
          <p:nvPr/>
        </p:nvSpPr>
        <p:spPr>
          <a:xfrm>
            <a:off x="8046720" y="1874520"/>
            <a:ext cx="3383280" cy="548640"/>
          </a:xfrm>
          <a:prstGeom prst="rect">
            <a:avLst/>
          </a:prstGeom>
          <a:noFill/>
          <a:ln/>
        </p:spPr>
        <p:txBody>
          <a:bodyPr wrap="square" lIns="0" tIns="0" rIns="0" bIns="0" rtlCol="0" anchor="ctr"/>
          <a:lstStyle/>
          <a:p>
            <a:pPr indent="0" marL="0">
              <a:buNone/>
            </a:pPr>
            <a:r>
              <a:rPr lang="en-US" sz="2600" b="1" dirty="0">
                <a:solidFill>
                  <a:srgbClr val="2F7BFF"/>
                </a:solidFill>
                <a:latin typeface="Calibri" pitchFamily="34" charset="0"/>
                <a:ea typeface="Calibri" pitchFamily="34" charset="-122"/>
                <a:cs typeface="Calibri" pitchFamily="34" charset="-120"/>
              </a:rPr>
              <a:t>6</a:t>
            </a:r>
            <a:endParaRPr lang="en-US" sz="2600" dirty="0"/>
          </a:p>
        </p:txBody>
      </p:sp>
      <p:sp>
        <p:nvSpPr>
          <p:cNvPr id="8" name="Text 6"/>
          <p:cNvSpPr txBox="1"/>
          <p:nvPr/>
        </p:nvSpPr>
        <p:spPr>
          <a:xfrm>
            <a:off x="8046720" y="2468880"/>
            <a:ext cx="3383280" cy="411480"/>
          </a:xfrm>
          <a:prstGeom prst="rect">
            <a:avLst/>
          </a:prstGeom>
          <a:noFill/>
          <a:ln/>
        </p:spPr>
        <p:txBody>
          <a:bodyPr wrap="square" lIns="0" tIns="0" rIns="0" bIns="0" rtlCol="0" anchor="t"/>
          <a:lstStyle/>
          <a:p>
            <a:pPr indent="0" marL="0">
              <a:buNone/>
            </a:pPr>
            <a:r>
              <a:rPr lang="en-US" sz="1200" dirty="0">
                <a:solidFill>
                  <a:srgbClr val="D6E2F3"/>
                </a:solidFill>
                <a:latin typeface="Calibri" pitchFamily="34" charset="0"/>
                <a:ea typeface="Calibri" pitchFamily="34" charset="-122"/>
                <a:cs typeface="Calibri" pitchFamily="34" charset="-120"/>
              </a:rPr>
              <a:t>dashboard pages, each checked against reference figures</a:t>
            </a:r>
            <a:endParaRPr lang="en-US" sz="1200" dirty="0"/>
          </a:p>
        </p:txBody>
      </p:sp>
      <p:sp>
        <p:nvSpPr>
          <p:cNvPr id="9" name="Shape 7"/>
          <p:cNvSpPr/>
          <p:nvPr/>
        </p:nvSpPr>
        <p:spPr>
          <a:xfrm>
            <a:off x="7863840" y="3200400"/>
            <a:ext cx="3749040" cy="1234440"/>
          </a:xfrm>
          <a:prstGeom prst="roundRect">
            <a:avLst>
              <a:gd name="adj" fmla="val 7407"/>
            </a:avLst>
          </a:prstGeom>
          <a:solidFill>
            <a:srgbClr val="12264A">
              <a:alpha val="70000"/>
            </a:srgbClr>
          </a:solidFill>
          <a:ln w="15875">
            <a:solidFill>
              <a:srgbClr val="1ABC9C"/>
            </a:solidFill>
            <a:prstDash val="solid"/>
          </a:ln>
        </p:spPr>
      </p:sp>
      <p:sp>
        <p:nvSpPr>
          <p:cNvPr id="10" name="Text 8"/>
          <p:cNvSpPr txBox="1"/>
          <p:nvPr/>
        </p:nvSpPr>
        <p:spPr>
          <a:xfrm>
            <a:off x="8046720" y="3337560"/>
            <a:ext cx="3383280" cy="548640"/>
          </a:xfrm>
          <a:prstGeom prst="rect">
            <a:avLst/>
          </a:prstGeom>
          <a:noFill/>
          <a:ln/>
        </p:spPr>
        <p:txBody>
          <a:bodyPr wrap="square" lIns="0" tIns="0" rIns="0" bIns="0" rtlCol="0" anchor="ctr"/>
          <a:lstStyle/>
          <a:p>
            <a:pPr indent="0" marL="0">
              <a:buNone/>
            </a:pPr>
            <a:r>
              <a:rPr lang="en-US" sz="2600" b="1" dirty="0">
                <a:solidFill>
                  <a:srgbClr val="1ABC9C"/>
                </a:solidFill>
                <a:latin typeface="Calibri" pitchFamily="34" charset="0"/>
                <a:ea typeface="Calibri" pitchFamily="34" charset="-122"/>
                <a:cs typeface="Calibri" pitchFamily="34" charset="-120"/>
              </a:rPr>
              <a:t>40</a:t>
            </a:r>
            <a:endParaRPr lang="en-US" sz="2600" dirty="0"/>
          </a:p>
        </p:txBody>
      </p:sp>
      <p:sp>
        <p:nvSpPr>
          <p:cNvPr id="11" name="Text 9"/>
          <p:cNvSpPr txBox="1"/>
          <p:nvPr/>
        </p:nvSpPr>
        <p:spPr>
          <a:xfrm>
            <a:off x="8046720" y="3931920"/>
            <a:ext cx="3383280" cy="411480"/>
          </a:xfrm>
          <a:prstGeom prst="rect">
            <a:avLst/>
          </a:prstGeom>
          <a:noFill/>
          <a:ln/>
        </p:spPr>
        <p:txBody>
          <a:bodyPr wrap="square" lIns="0" tIns="0" rIns="0" bIns="0" rtlCol="0" anchor="t"/>
          <a:lstStyle/>
          <a:p>
            <a:pPr indent="0" marL="0">
              <a:buNone/>
            </a:pPr>
            <a:r>
              <a:rPr lang="en-US" sz="1200" dirty="0">
                <a:solidFill>
                  <a:srgbClr val="D6E2F3"/>
                </a:solidFill>
                <a:latin typeface="Calibri" pitchFamily="34" charset="0"/>
                <a:ea typeface="Calibri" pitchFamily="34" charset="-122"/>
                <a:cs typeface="Calibri" pitchFamily="34" charset="-120"/>
              </a:rPr>
              <a:t>business questions answered in SQL</a:t>
            </a:r>
            <a:endParaRPr lang="en-US" sz="1200" dirty="0"/>
          </a:p>
        </p:txBody>
      </p:sp>
      <p:sp>
        <p:nvSpPr>
          <p:cNvPr id="12" name="Shape 10"/>
          <p:cNvSpPr/>
          <p:nvPr/>
        </p:nvSpPr>
        <p:spPr>
          <a:xfrm>
            <a:off x="7863840" y="4663440"/>
            <a:ext cx="3749040" cy="1234440"/>
          </a:xfrm>
          <a:prstGeom prst="roundRect">
            <a:avLst>
              <a:gd name="adj" fmla="val 7407"/>
            </a:avLst>
          </a:prstGeom>
          <a:solidFill>
            <a:srgbClr val="12264A">
              <a:alpha val="70000"/>
            </a:srgbClr>
          </a:solidFill>
          <a:ln w="15875">
            <a:solidFill>
              <a:srgbClr val="F5A623"/>
            </a:solidFill>
            <a:prstDash val="solid"/>
          </a:ln>
        </p:spPr>
      </p:sp>
      <p:sp>
        <p:nvSpPr>
          <p:cNvPr id="13" name="Text 11"/>
          <p:cNvSpPr txBox="1"/>
          <p:nvPr/>
        </p:nvSpPr>
        <p:spPr>
          <a:xfrm>
            <a:off x="8046720" y="4800600"/>
            <a:ext cx="3383280" cy="548640"/>
          </a:xfrm>
          <a:prstGeom prst="rect">
            <a:avLst/>
          </a:prstGeom>
          <a:noFill/>
          <a:ln/>
        </p:spPr>
        <p:txBody>
          <a:bodyPr wrap="square" lIns="0" tIns="0" rIns="0" bIns="0" rtlCol="0" anchor="ctr"/>
          <a:lstStyle/>
          <a:p>
            <a:pPr indent="0" marL="0">
              <a:buNone/>
            </a:pPr>
            <a:r>
              <a:rPr lang="en-US" sz="2600" b="1" dirty="0">
                <a:solidFill>
                  <a:srgbClr val="F5A623"/>
                </a:solidFill>
                <a:latin typeface="Calibri" pitchFamily="34" charset="0"/>
                <a:ea typeface="Calibri" pitchFamily="34" charset="-122"/>
                <a:cs typeface="Calibri" pitchFamily="34" charset="-120"/>
              </a:rPr>
              <a:t>27</a:t>
            </a:r>
            <a:endParaRPr lang="en-US" sz="2600" dirty="0"/>
          </a:p>
        </p:txBody>
      </p:sp>
      <p:sp>
        <p:nvSpPr>
          <p:cNvPr id="14" name="Text 12"/>
          <p:cNvSpPr txBox="1"/>
          <p:nvPr/>
        </p:nvSpPr>
        <p:spPr>
          <a:xfrm>
            <a:off x="8046720" y="5394960"/>
            <a:ext cx="3383280" cy="411480"/>
          </a:xfrm>
          <a:prstGeom prst="rect">
            <a:avLst/>
          </a:prstGeom>
          <a:noFill/>
          <a:ln/>
        </p:spPr>
        <p:txBody>
          <a:bodyPr wrap="square" lIns="0" tIns="0" rIns="0" bIns="0" rtlCol="0" anchor="t"/>
          <a:lstStyle/>
          <a:p>
            <a:pPr indent="0" marL="0">
              <a:buNone/>
            </a:pPr>
            <a:r>
              <a:rPr lang="en-US" sz="1200" dirty="0">
                <a:solidFill>
                  <a:srgbClr val="D6E2F3"/>
                </a:solidFill>
                <a:latin typeface="Calibri" pitchFamily="34" charset="0"/>
                <a:ea typeface="Calibri" pitchFamily="34" charset="-122"/>
                <a:cs typeface="Calibri" pitchFamily="34" charset="-120"/>
              </a:rPr>
              <a:t>source tables loaded and checked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A33"/>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F7BFF"/>
          </a:solidFill>
          <a:ln w="12700">
            <a:solidFill>
              <a:srgbClr val="2F7BFF"/>
            </a:solidFill>
            <a:prstDash val="solid"/>
          </a:ln>
        </p:spPr>
      </p:sp>
      <p:sp>
        <p:nvSpPr>
          <p:cNvPr id="3" name="Text 1"/>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100" kern="0" dirty="0">
                <a:solidFill>
                  <a:srgbClr val="1ABC9C"/>
                </a:solidFill>
                <a:latin typeface="Calibri" pitchFamily="34" charset="0"/>
                <a:ea typeface="Calibri" pitchFamily="34" charset="-122"/>
                <a:cs typeface="Calibri" pitchFamily="34" charset="-120"/>
              </a:rPr>
              <a:t>THE DATA</a:t>
            </a:r>
            <a:endParaRPr lang="en-US" sz="1100" dirty="0"/>
          </a:p>
        </p:txBody>
      </p:sp>
      <p:sp>
        <p:nvSpPr>
          <p:cNvPr id="4" name="Text 2"/>
          <p:cNvSpPr txBox="1"/>
          <p:nvPr/>
        </p:nvSpPr>
        <p:spPr>
          <a:xfrm>
            <a:off x="548640" y="594360"/>
            <a:ext cx="11064240" cy="822960"/>
          </a:xfrm>
          <a:prstGeom prst="rect">
            <a:avLst/>
          </a:prstGeom>
          <a:noFill/>
          <a:ln/>
        </p:spPr>
        <p:txBody>
          <a:bodyPr wrap="square" lIns="0" tIns="0" rIns="0" bIns="0" rtlCol="0" anchor="t"/>
          <a:lstStyle/>
          <a:p>
            <a:pPr indent="0" marL="0">
              <a:buNone/>
            </a:pPr>
            <a:r>
              <a:rPr lang="en-US" sz="2800" b="1" dirty="0">
                <a:solidFill>
                  <a:srgbClr val="FFFFFF"/>
                </a:solidFill>
                <a:latin typeface="Calibri" pitchFamily="34" charset="0"/>
                <a:ea typeface="Calibri" pitchFamily="34" charset="-122"/>
                <a:cs typeface="Calibri" pitchFamily="34" charset="-120"/>
              </a:rPr>
              <a:t>What the data contains</a:t>
            </a:r>
            <a:endParaRPr lang="en-US" sz="2800" dirty="0"/>
          </a:p>
        </p:txBody>
      </p:sp>
      <p:sp>
        <p:nvSpPr>
          <p:cNvPr id="5" name="Shape 3"/>
          <p:cNvSpPr/>
          <p:nvPr/>
        </p:nvSpPr>
        <p:spPr>
          <a:xfrm>
            <a:off x="548640" y="1737360"/>
            <a:ext cx="2651760" cy="1234440"/>
          </a:xfrm>
          <a:prstGeom prst="roundRect">
            <a:avLst>
              <a:gd name="adj" fmla="val 7407"/>
            </a:avLst>
          </a:prstGeom>
          <a:solidFill>
            <a:srgbClr val="12264A">
              <a:alpha val="70000"/>
            </a:srgbClr>
          </a:solidFill>
          <a:ln w="15875">
            <a:solidFill>
              <a:srgbClr val="2F7BFF"/>
            </a:solidFill>
            <a:prstDash val="solid"/>
          </a:ln>
        </p:spPr>
      </p:sp>
      <p:sp>
        <p:nvSpPr>
          <p:cNvPr id="6" name="Text 4"/>
          <p:cNvSpPr txBox="1"/>
          <p:nvPr/>
        </p:nvSpPr>
        <p:spPr>
          <a:xfrm>
            <a:off x="731520" y="1874520"/>
            <a:ext cx="2286000" cy="548640"/>
          </a:xfrm>
          <a:prstGeom prst="rect">
            <a:avLst/>
          </a:prstGeom>
          <a:noFill/>
          <a:ln/>
        </p:spPr>
        <p:txBody>
          <a:bodyPr wrap="square" lIns="0" tIns="0" rIns="0" bIns="0" rtlCol="0" anchor="ctr"/>
          <a:lstStyle/>
          <a:p>
            <a:pPr indent="0" marL="0">
              <a:buNone/>
            </a:pPr>
            <a:r>
              <a:rPr lang="en-US" sz="2600" b="1" dirty="0">
                <a:solidFill>
                  <a:srgbClr val="2F7BFF"/>
                </a:solidFill>
                <a:latin typeface="Calibri" pitchFamily="34" charset="0"/>
                <a:ea typeface="Calibri" pitchFamily="34" charset="-122"/>
                <a:cs typeface="Calibri" pitchFamily="34" charset="-120"/>
              </a:rPr>
              <a:t>20,000</a:t>
            </a:r>
            <a:endParaRPr lang="en-US" sz="2600" dirty="0"/>
          </a:p>
        </p:txBody>
      </p:sp>
      <p:sp>
        <p:nvSpPr>
          <p:cNvPr id="7" name="Text 5"/>
          <p:cNvSpPr txBox="1"/>
          <p:nvPr/>
        </p:nvSpPr>
        <p:spPr>
          <a:xfrm>
            <a:off x="731520" y="2468880"/>
            <a:ext cx="2286000" cy="411480"/>
          </a:xfrm>
          <a:prstGeom prst="rect">
            <a:avLst/>
          </a:prstGeom>
          <a:noFill/>
          <a:ln/>
        </p:spPr>
        <p:txBody>
          <a:bodyPr wrap="square" lIns="0" tIns="0" rIns="0" bIns="0" rtlCol="0" anchor="t"/>
          <a:lstStyle/>
          <a:p>
            <a:pPr indent="0" marL="0">
              <a:buNone/>
            </a:pPr>
            <a:r>
              <a:rPr lang="en-US" sz="1200" dirty="0">
                <a:solidFill>
                  <a:srgbClr val="D6E2F3"/>
                </a:solidFill>
                <a:latin typeface="Calibri" pitchFamily="34" charset="0"/>
                <a:ea typeface="Calibri" pitchFamily="34" charset="-122"/>
                <a:cs typeface="Calibri" pitchFamily="34" charset="-120"/>
              </a:rPr>
              <a:t>patients</a:t>
            </a:r>
            <a:endParaRPr lang="en-US" sz="1200" dirty="0"/>
          </a:p>
        </p:txBody>
      </p:sp>
      <p:sp>
        <p:nvSpPr>
          <p:cNvPr id="8" name="Shape 6"/>
          <p:cNvSpPr/>
          <p:nvPr/>
        </p:nvSpPr>
        <p:spPr>
          <a:xfrm>
            <a:off x="3383280" y="1737360"/>
            <a:ext cx="2651760" cy="1234440"/>
          </a:xfrm>
          <a:prstGeom prst="roundRect">
            <a:avLst>
              <a:gd name="adj" fmla="val 7407"/>
            </a:avLst>
          </a:prstGeom>
          <a:solidFill>
            <a:srgbClr val="12264A">
              <a:alpha val="70000"/>
            </a:srgbClr>
          </a:solidFill>
          <a:ln w="15875">
            <a:solidFill>
              <a:srgbClr val="7B4DFF"/>
            </a:solidFill>
            <a:prstDash val="solid"/>
          </a:ln>
        </p:spPr>
      </p:sp>
      <p:sp>
        <p:nvSpPr>
          <p:cNvPr id="9" name="Text 7"/>
          <p:cNvSpPr txBox="1"/>
          <p:nvPr/>
        </p:nvSpPr>
        <p:spPr>
          <a:xfrm>
            <a:off x="3566160" y="1874520"/>
            <a:ext cx="2286000" cy="548640"/>
          </a:xfrm>
          <a:prstGeom prst="rect">
            <a:avLst/>
          </a:prstGeom>
          <a:noFill/>
          <a:ln/>
        </p:spPr>
        <p:txBody>
          <a:bodyPr wrap="square" lIns="0" tIns="0" rIns="0" bIns="0" rtlCol="0" anchor="ctr"/>
          <a:lstStyle/>
          <a:p>
            <a:pPr indent="0" marL="0">
              <a:buNone/>
            </a:pPr>
            <a:r>
              <a:rPr lang="en-US" sz="2600" b="1" dirty="0">
                <a:solidFill>
                  <a:srgbClr val="7B4DFF"/>
                </a:solidFill>
                <a:latin typeface="Calibri" pitchFamily="34" charset="0"/>
                <a:ea typeface="Calibri" pitchFamily="34" charset="-122"/>
                <a:cs typeface="Calibri" pitchFamily="34" charset="-120"/>
              </a:rPr>
              <a:t>60,000</a:t>
            </a:r>
            <a:endParaRPr lang="en-US" sz="2600" dirty="0"/>
          </a:p>
        </p:txBody>
      </p:sp>
      <p:sp>
        <p:nvSpPr>
          <p:cNvPr id="10" name="Text 8"/>
          <p:cNvSpPr txBox="1"/>
          <p:nvPr/>
        </p:nvSpPr>
        <p:spPr>
          <a:xfrm>
            <a:off x="3566160" y="2468880"/>
            <a:ext cx="2286000" cy="411480"/>
          </a:xfrm>
          <a:prstGeom prst="rect">
            <a:avLst/>
          </a:prstGeom>
          <a:noFill/>
          <a:ln/>
        </p:spPr>
        <p:txBody>
          <a:bodyPr wrap="square" lIns="0" tIns="0" rIns="0" bIns="0" rtlCol="0" anchor="t"/>
          <a:lstStyle/>
          <a:p>
            <a:pPr indent="0" marL="0">
              <a:buNone/>
            </a:pPr>
            <a:r>
              <a:rPr lang="en-US" sz="1200" dirty="0">
                <a:solidFill>
                  <a:srgbClr val="D6E2F3"/>
                </a:solidFill>
                <a:latin typeface="Calibri" pitchFamily="34" charset="0"/>
                <a:ea typeface="Calibri" pitchFamily="34" charset="-122"/>
                <a:cs typeface="Calibri" pitchFamily="34" charset="-120"/>
              </a:rPr>
              <a:t>diagnoses and bills</a:t>
            </a:r>
            <a:endParaRPr lang="en-US" sz="1200" dirty="0"/>
          </a:p>
        </p:txBody>
      </p:sp>
      <p:sp>
        <p:nvSpPr>
          <p:cNvPr id="11" name="Shape 9"/>
          <p:cNvSpPr/>
          <p:nvPr/>
        </p:nvSpPr>
        <p:spPr>
          <a:xfrm>
            <a:off x="6217920" y="1737360"/>
            <a:ext cx="2651760" cy="1234440"/>
          </a:xfrm>
          <a:prstGeom prst="roundRect">
            <a:avLst>
              <a:gd name="adj" fmla="val 7407"/>
            </a:avLst>
          </a:prstGeom>
          <a:solidFill>
            <a:srgbClr val="12264A">
              <a:alpha val="70000"/>
            </a:srgbClr>
          </a:solidFill>
          <a:ln w="15875">
            <a:solidFill>
              <a:srgbClr val="1ABC9C"/>
            </a:solidFill>
            <a:prstDash val="solid"/>
          </a:ln>
        </p:spPr>
      </p:sp>
      <p:sp>
        <p:nvSpPr>
          <p:cNvPr id="12" name="Text 10"/>
          <p:cNvSpPr txBox="1"/>
          <p:nvPr/>
        </p:nvSpPr>
        <p:spPr>
          <a:xfrm>
            <a:off x="6400800" y="1874520"/>
            <a:ext cx="2286000" cy="548640"/>
          </a:xfrm>
          <a:prstGeom prst="rect">
            <a:avLst/>
          </a:prstGeom>
          <a:noFill/>
          <a:ln/>
        </p:spPr>
        <p:txBody>
          <a:bodyPr wrap="square" lIns="0" tIns="0" rIns="0" bIns="0" rtlCol="0" anchor="ctr"/>
          <a:lstStyle/>
          <a:p>
            <a:pPr indent="0" marL="0">
              <a:buNone/>
            </a:pPr>
            <a:r>
              <a:rPr lang="en-US" sz="2600" b="1" dirty="0">
                <a:solidFill>
                  <a:srgbClr val="1ABC9C"/>
                </a:solidFill>
                <a:latin typeface="Calibri" pitchFamily="34" charset="0"/>
                <a:ea typeface="Calibri" pitchFamily="34" charset="-122"/>
                <a:cs typeface="Calibri" pitchFamily="34" charset="-120"/>
              </a:rPr>
              <a:t>5,000</a:t>
            </a:r>
            <a:endParaRPr lang="en-US" sz="2600" dirty="0"/>
          </a:p>
        </p:txBody>
      </p:sp>
      <p:sp>
        <p:nvSpPr>
          <p:cNvPr id="13" name="Text 11"/>
          <p:cNvSpPr txBox="1"/>
          <p:nvPr/>
        </p:nvSpPr>
        <p:spPr>
          <a:xfrm>
            <a:off x="6400800" y="2468880"/>
            <a:ext cx="2286000" cy="411480"/>
          </a:xfrm>
          <a:prstGeom prst="rect">
            <a:avLst/>
          </a:prstGeom>
          <a:noFill/>
          <a:ln/>
        </p:spPr>
        <p:txBody>
          <a:bodyPr wrap="square" lIns="0" tIns="0" rIns="0" bIns="0" rtlCol="0" anchor="t"/>
          <a:lstStyle/>
          <a:p>
            <a:pPr indent="0" marL="0">
              <a:buNone/>
            </a:pPr>
            <a:r>
              <a:rPr lang="en-US" sz="1200" dirty="0">
                <a:solidFill>
                  <a:srgbClr val="D6E2F3"/>
                </a:solidFill>
                <a:latin typeface="Calibri" pitchFamily="34" charset="0"/>
                <a:ea typeface="Calibri" pitchFamily="34" charset="-122"/>
                <a:cs typeface="Calibri" pitchFamily="34" charset="-120"/>
              </a:rPr>
              <a:t>appointments with clinical detail</a:t>
            </a:r>
            <a:endParaRPr lang="en-US" sz="1200" dirty="0"/>
          </a:p>
        </p:txBody>
      </p:sp>
      <p:sp>
        <p:nvSpPr>
          <p:cNvPr id="14" name="Shape 12"/>
          <p:cNvSpPr/>
          <p:nvPr/>
        </p:nvSpPr>
        <p:spPr>
          <a:xfrm>
            <a:off x="9052560" y="1737360"/>
            <a:ext cx="2651760" cy="1234440"/>
          </a:xfrm>
          <a:prstGeom prst="roundRect">
            <a:avLst>
              <a:gd name="adj" fmla="val 7407"/>
            </a:avLst>
          </a:prstGeom>
          <a:solidFill>
            <a:srgbClr val="12264A">
              <a:alpha val="70000"/>
            </a:srgbClr>
          </a:solidFill>
          <a:ln w="15875">
            <a:solidFill>
              <a:srgbClr val="F5A623"/>
            </a:solidFill>
            <a:prstDash val="solid"/>
          </a:ln>
        </p:spPr>
      </p:sp>
      <p:sp>
        <p:nvSpPr>
          <p:cNvPr id="15" name="Text 13"/>
          <p:cNvSpPr txBox="1"/>
          <p:nvPr/>
        </p:nvSpPr>
        <p:spPr>
          <a:xfrm>
            <a:off x="9235440" y="1874520"/>
            <a:ext cx="2286000" cy="548640"/>
          </a:xfrm>
          <a:prstGeom prst="rect">
            <a:avLst/>
          </a:prstGeom>
          <a:noFill/>
          <a:ln/>
        </p:spPr>
        <p:txBody>
          <a:bodyPr wrap="square" lIns="0" tIns="0" rIns="0" bIns="0" rtlCol="0" anchor="ctr"/>
          <a:lstStyle/>
          <a:p>
            <a:pPr indent="0" marL="0">
              <a:buNone/>
            </a:pPr>
            <a:r>
              <a:rPr lang="en-US" sz="2600" b="1" dirty="0">
                <a:solidFill>
                  <a:srgbClr val="F5A623"/>
                </a:solidFill>
                <a:latin typeface="Calibri" pitchFamily="34" charset="0"/>
                <a:ea typeface="Calibri" pitchFamily="34" charset="-122"/>
                <a:cs typeface="Calibri" pitchFamily="34" charset="-120"/>
              </a:rPr>
              <a:t>21,064</a:t>
            </a:r>
            <a:endParaRPr lang="en-US" sz="2600" dirty="0"/>
          </a:p>
        </p:txBody>
      </p:sp>
      <p:sp>
        <p:nvSpPr>
          <p:cNvPr id="16" name="Text 14"/>
          <p:cNvSpPr txBox="1"/>
          <p:nvPr/>
        </p:nvSpPr>
        <p:spPr>
          <a:xfrm>
            <a:off x="9235440" y="2468880"/>
            <a:ext cx="2286000" cy="411480"/>
          </a:xfrm>
          <a:prstGeom prst="rect">
            <a:avLst/>
          </a:prstGeom>
          <a:noFill/>
          <a:ln/>
        </p:spPr>
        <p:txBody>
          <a:bodyPr wrap="square" lIns="0" tIns="0" rIns="0" bIns="0" rtlCol="0" anchor="t"/>
          <a:lstStyle/>
          <a:p>
            <a:pPr indent="0" marL="0">
              <a:buNone/>
            </a:pPr>
            <a:r>
              <a:rPr lang="en-US" sz="1200" dirty="0">
                <a:solidFill>
                  <a:srgbClr val="D6E2F3"/>
                </a:solidFill>
                <a:latin typeface="Calibri" pitchFamily="34" charset="0"/>
                <a:ea typeface="Calibri" pitchFamily="34" charset="-122"/>
                <a:cs typeface="Calibri" pitchFamily="34" charset="-120"/>
              </a:rPr>
              <a:t>patient feedback responses</a:t>
            </a:r>
            <a:endParaRPr lang="en-US" sz="1200" dirty="0"/>
          </a:p>
        </p:txBody>
      </p:sp>
      <p:sp>
        <p:nvSpPr>
          <p:cNvPr id="17" name="Text 15"/>
          <p:cNvSpPr txBox="1"/>
          <p:nvPr/>
        </p:nvSpPr>
        <p:spPr>
          <a:xfrm>
            <a:off x="548640" y="3383280"/>
            <a:ext cx="10972800" cy="25603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D6E2F3"/>
                </a:solidFill>
                <a:latin typeface="Calibri" pitchFamily="34" charset="0"/>
                <a:ea typeface="Calibri" pitchFamily="34" charset="-122"/>
                <a:cs typeface="Calibri" pitchFamily="34" charset="-120"/>
              </a:rPr>
              <a:t>Covers customers, appointments, diagnoses, billing, payments, insurance claims, staff, facilities, equipment and feedback.</a:t>
            </a:r>
            <a:endParaRPr lang="en-US" sz="1600" dirty="0"/>
          </a:p>
          <a:p>
            <a:pPr marL="342900" indent="-342900">
              <a:spcAft>
                <a:spcPts val="1000"/>
              </a:spcAft>
              <a:buSzPct val="100000"/>
              <a:buChar char="•"/>
            </a:pPr>
            <a:r>
              <a:rPr lang="en-US" sz="1600" dirty="0">
                <a:solidFill>
                  <a:srgbClr val="D6E2F3"/>
                </a:solidFill>
                <a:latin typeface="Calibri" pitchFamily="34" charset="0"/>
                <a:ea typeface="Calibri" pitchFamily="34" charset="-122"/>
                <a:cs typeface="Calibri" pitchFamily="34" charset="-120"/>
              </a:rPr>
              <a:t>Relationships were checked: each billing row links to an appointment, and each payment and claim links to a bill.</a:t>
            </a:r>
            <a:endParaRPr lang="en-US" sz="1600" dirty="0"/>
          </a:p>
          <a:p>
            <a:pPr marL="342900" indent="-342900">
              <a:spcAft>
                <a:spcPts val="1000"/>
              </a:spcAft>
              <a:buSzPct val="100000"/>
              <a:buChar char="•"/>
            </a:pPr>
            <a:r>
              <a:rPr lang="en-US" sz="1600" dirty="0">
                <a:solidFill>
                  <a:srgbClr val="D6E2F3"/>
                </a:solidFill>
                <a:latin typeface="Calibri" pitchFamily="34" charset="0"/>
                <a:ea typeface="Calibri" pitchFamily="34" charset="-122"/>
                <a:cs typeface="Calibri" pitchFamily="34" charset="-120"/>
              </a:rPr>
              <a:t>A duplicate facility file was excluded before loading.</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A33"/>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F7BFF"/>
          </a:solidFill>
          <a:ln w="12700">
            <a:solidFill>
              <a:srgbClr val="2F7BFF"/>
            </a:solidFill>
            <a:prstDash val="solid"/>
          </a:ln>
        </p:spPr>
      </p:sp>
      <p:sp>
        <p:nvSpPr>
          <p:cNvPr id="3" name="Text 1"/>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100" kern="0" dirty="0">
                <a:solidFill>
                  <a:srgbClr val="1ABC9C"/>
                </a:solidFill>
                <a:latin typeface="Calibri" pitchFamily="34" charset="0"/>
                <a:ea typeface="Calibri" pitchFamily="34" charset="-122"/>
                <a:cs typeface="Calibri" pitchFamily="34" charset="-120"/>
              </a:rPr>
              <a:t>DATA LIMITATIONS</a:t>
            </a:r>
            <a:endParaRPr lang="en-US" sz="1100" dirty="0"/>
          </a:p>
        </p:txBody>
      </p:sp>
      <p:sp>
        <p:nvSpPr>
          <p:cNvPr id="4" name="Text 2"/>
          <p:cNvSpPr txBox="1"/>
          <p:nvPr/>
        </p:nvSpPr>
        <p:spPr>
          <a:xfrm>
            <a:off x="548640" y="594360"/>
            <a:ext cx="11064240" cy="822960"/>
          </a:xfrm>
          <a:prstGeom prst="rect">
            <a:avLst/>
          </a:prstGeom>
          <a:noFill/>
          <a:ln/>
        </p:spPr>
        <p:txBody>
          <a:bodyPr wrap="square" lIns="0" tIns="0" rIns="0" bIns="0" rtlCol="0" anchor="t"/>
          <a:lstStyle/>
          <a:p>
            <a:pPr indent="0" marL="0">
              <a:buNone/>
            </a:pPr>
            <a:r>
              <a:rPr lang="en-US" sz="2800" b="1" dirty="0">
                <a:solidFill>
                  <a:srgbClr val="FFFFFF"/>
                </a:solidFill>
                <a:latin typeface="Calibri" pitchFamily="34" charset="0"/>
                <a:ea typeface="Calibri" pitchFamily="34" charset="-122"/>
                <a:cs typeface="Calibri" pitchFamily="34" charset="-120"/>
              </a:rPr>
              <a:t>Four limits shape every finding</a:t>
            </a:r>
            <a:endParaRPr lang="en-US" sz="2800" dirty="0"/>
          </a:p>
        </p:txBody>
      </p:sp>
      <p:sp>
        <p:nvSpPr>
          <p:cNvPr id="5" name="Shape 3"/>
          <p:cNvSpPr/>
          <p:nvPr/>
        </p:nvSpPr>
        <p:spPr>
          <a:xfrm>
            <a:off x="548640" y="1737360"/>
            <a:ext cx="5394960" cy="1920240"/>
          </a:xfrm>
          <a:prstGeom prst="roundRect">
            <a:avLst>
              <a:gd name="adj" fmla="val 4762"/>
            </a:avLst>
          </a:prstGeom>
          <a:solidFill>
            <a:srgbClr val="12264A">
              <a:alpha val="70000"/>
            </a:srgbClr>
          </a:solidFill>
          <a:ln w="15875">
            <a:solidFill>
              <a:srgbClr val="E5484D"/>
            </a:solidFill>
            <a:prstDash val="solid"/>
          </a:ln>
        </p:spPr>
      </p:sp>
      <p:sp>
        <p:nvSpPr>
          <p:cNvPr id="6" name="Text 4"/>
          <p:cNvSpPr txBox="1"/>
          <p:nvPr/>
        </p:nvSpPr>
        <p:spPr>
          <a:xfrm>
            <a:off x="777240" y="1920240"/>
            <a:ext cx="4937760" cy="4114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Appointment detail</a:t>
            </a:r>
            <a:endParaRPr lang="en-US" sz="1700" dirty="0"/>
          </a:p>
        </p:txBody>
      </p:sp>
      <p:sp>
        <p:nvSpPr>
          <p:cNvPr id="7" name="Text 5"/>
          <p:cNvSpPr txBox="1"/>
          <p:nvPr/>
        </p:nvSpPr>
        <p:spPr>
          <a:xfrm>
            <a:off x="777240" y="2423160"/>
            <a:ext cx="4937760" cy="1097280"/>
          </a:xfrm>
          <a:prstGeom prst="rect">
            <a:avLst/>
          </a:prstGeom>
          <a:noFill/>
          <a:ln/>
        </p:spPr>
        <p:txBody>
          <a:bodyPr wrap="square" lIns="0" tIns="0" rIns="0" bIns="0" rtlCol="0" anchor="t"/>
          <a:lstStyle/>
          <a:p>
            <a:pPr indent="0" marL="0">
              <a:buNone/>
            </a:pPr>
            <a:r>
              <a:rPr lang="en-US" sz="1400" dirty="0">
                <a:solidFill>
                  <a:srgbClr val="D6E2F3"/>
                </a:solidFill>
                <a:latin typeface="Calibri" pitchFamily="34" charset="0"/>
                <a:ea typeface="Calibri" pitchFamily="34" charset="-122"/>
                <a:cs typeface="Calibri" pitchFamily="34" charset="-120"/>
              </a:rPr>
              <a:t>Only 5,000 of 60,000 appointments have facility and department details. Location findings cover that subset.</a:t>
            </a:r>
            <a:endParaRPr lang="en-US" sz="1400" dirty="0"/>
          </a:p>
        </p:txBody>
      </p:sp>
      <p:sp>
        <p:nvSpPr>
          <p:cNvPr id="8" name="Shape 6"/>
          <p:cNvSpPr/>
          <p:nvPr/>
        </p:nvSpPr>
        <p:spPr>
          <a:xfrm>
            <a:off x="6217920" y="1737360"/>
            <a:ext cx="5394960" cy="1920240"/>
          </a:xfrm>
          <a:prstGeom prst="roundRect">
            <a:avLst>
              <a:gd name="adj" fmla="val 4762"/>
            </a:avLst>
          </a:prstGeom>
          <a:solidFill>
            <a:srgbClr val="12264A">
              <a:alpha val="70000"/>
            </a:srgbClr>
          </a:solidFill>
          <a:ln w="15875">
            <a:solidFill>
              <a:srgbClr val="E5484D"/>
            </a:solidFill>
            <a:prstDash val="solid"/>
          </a:ln>
        </p:spPr>
      </p:sp>
      <p:sp>
        <p:nvSpPr>
          <p:cNvPr id="9" name="Text 7"/>
          <p:cNvSpPr txBox="1"/>
          <p:nvPr/>
        </p:nvSpPr>
        <p:spPr>
          <a:xfrm>
            <a:off x="6446520" y="1920240"/>
            <a:ext cx="4937760" cy="4114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Billing has no dates</a:t>
            </a:r>
            <a:endParaRPr lang="en-US" sz="1700" dirty="0"/>
          </a:p>
        </p:txBody>
      </p:sp>
      <p:sp>
        <p:nvSpPr>
          <p:cNvPr id="10" name="Text 8"/>
          <p:cNvSpPr txBox="1"/>
          <p:nvPr/>
        </p:nvSpPr>
        <p:spPr>
          <a:xfrm>
            <a:off x="6446520" y="2423160"/>
            <a:ext cx="4937760" cy="1097280"/>
          </a:xfrm>
          <a:prstGeom prst="rect">
            <a:avLst/>
          </a:prstGeom>
          <a:noFill/>
          <a:ln/>
        </p:spPr>
        <p:txBody>
          <a:bodyPr wrap="square" lIns="0" tIns="0" rIns="0" bIns="0" rtlCol="0" anchor="t"/>
          <a:lstStyle/>
          <a:p>
            <a:pPr indent="0" marL="0">
              <a:buNone/>
            </a:pPr>
            <a:r>
              <a:rPr lang="en-US" sz="1400" dirty="0">
                <a:solidFill>
                  <a:srgbClr val="D6E2F3"/>
                </a:solidFill>
                <a:latin typeface="Calibri" pitchFamily="34" charset="0"/>
                <a:ea typeface="Calibri" pitchFamily="34" charset="-122"/>
                <a:cs typeface="Calibri" pitchFamily="34" charset="-120"/>
              </a:rPr>
              <a:t>The monthly trend uses the 5,000 matched bills, totalling 771 million of 9.31 billion billed.</a:t>
            </a:r>
            <a:endParaRPr lang="en-US" sz="1400" dirty="0"/>
          </a:p>
        </p:txBody>
      </p:sp>
      <p:sp>
        <p:nvSpPr>
          <p:cNvPr id="11" name="Shape 9"/>
          <p:cNvSpPr/>
          <p:nvPr/>
        </p:nvSpPr>
        <p:spPr>
          <a:xfrm>
            <a:off x="548640" y="3886200"/>
            <a:ext cx="5394960" cy="1920240"/>
          </a:xfrm>
          <a:prstGeom prst="roundRect">
            <a:avLst>
              <a:gd name="adj" fmla="val 4762"/>
            </a:avLst>
          </a:prstGeom>
          <a:solidFill>
            <a:srgbClr val="12264A">
              <a:alpha val="70000"/>
            </a:srgbClr>
          </a:solidFill>
          <a:ln w="15875">
            <a:solidFill>
              <a:srgbClr val="E5484D"/>
            </a:solidFill>
            <a:prstDash val="solid"/>
          </a:ln>
        </p:spPr>
      </p:sp>
      <p:sp>
        <p:nvSpPr>
          <p:cNvPr id="12" name="Text 10"/>
          <p:cNvSpPr txBox="1"/>
          <p:nvPr/>
        </p:nvSpPr>
        <p:spPr>
          <a:xfrm>
            <a:off x="777240" y="4069080"/>
            <a:ext cx="4937760" cy="4114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Missing records</a:t>
            </a:r>
            <a:endParaRPr lang="en-US" sz="1700" dirty="0"/>
          </a:p>
        </p:txBody>
      </p:sp>
      <p:sp>
        <p:nvSpPr>
          <p:cNvPr id="13" name="Text 11"/>
          <p:cNvSpPr txBox="1"/>
          <p:nvPr/>
        </p:nvSpPr>
        <p:spPr>
          <a:xfrm>
            <a:off x="777240" y="4572000"/>
            <a:ext cx="4937760" cy="1097280"/>
          </a:xfrm>
          <a:prstGeom prst="rect">
            <a:avLst/>
          </a:prstGeom>
          <a:noFill/>
          <a:ln/>
        </p:spPr>
        <p:txBody>
          <a:bodyPr wrap="square" lIns="0" tIns="0" rIns="0" bIns="0" rtlCol="0" anchor="t"/>
          <a:lstStyle/>
          <a:p>
            <a:pPr indent="0" marL="0">
              <a:buNone/>
            </a:pPr>
            <a:r>
              <a:rPr lang="en-US" sz="1400" dirty="0">
                <a:solidFill>
                  <a:srgbClr val="D6E2F3"/>
                </a:solidFill>
                <a:latin typeface="Calibri" pitchFamily="34" charset="0"/>
                <a:ea typeface="Calibri" pitchFamily="34" charset="-122"/>
                <a:cs typeface="Calibri" pitchFamily="34" charset="-120"/>
              </a:rPr>
              <a:t>No laboratory, prescription, admission or referral data. Emergency visits are a proxy for referrals.</a:t>
            </a:r>
            <a:endParaRPr lang="en-US" sz="1400" dirty="0"/>
          </a:p>
        </p:txBody>
      </p:sp>
      <p:sp>
        <p:nvSpPr>
          <p:cNvPr id="14" name="Shape 12"/>
          <p:cNvSpPr/>
          <p:nvPr/>
        </p:nvSpPr>
        <p:spPr>
          <a:xfrm>
            <a:off x="6217920" y="3886200"/>
            <a:ext cx="5394960" cy="1920240"/>
          </a:xfrm>
          <a:prstGeom prst="roundRect">
            <a:avLst>
              <a:gd name="adj" fmla="val 4762"/>
            </a:avLst>
          </a:prstGeom>
          <a:solidFill>
            <a:srgbClr val="12264A">
              <a:alpha val="70000"/>
            </a:srgbClr>
          </a:solidFill>
          <a:ln w="15875">
            <a:solidFill>
              <a:srgbClr val="E5484D"/>
            </a:solidFill>
            <a:prstDash val="solid"/>
          </a:ln>
        </p:spPr>
      </p:sp>
      <p:sp>
        <p:nvSpPr>
          <p:cNvPr id="15" name="Text 13"/>
          <p:cNvSpPr txBox="1"/>
          <p:nvPr/>
        </p:nvSpPr>
        <p:spPr>
          <a:xfrm>
            <a:off x="6446520" y="4069080"/>
            <a:ext cx="4937760" cy="4114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Facility names</a:t>
            </a:r>
            <a:endParaRPr lang="en-US" sz="1700" dirty="0"/>
          </a:p>
        </p:txBody>
      </p:sp>
      <p:sp>
        <p:nvSpPr>
          <p:cNvPr id="16" name="Text 14"/>
          <p:cNvSpPr txBox="1"/>
          <p:nvPr/>
        </p:nvSpPr>
        <p:spPr>
          <a:xfrm>
            <a:off x="6446520" y="4572000"/>
            <a:ext cx="4937760" cy="1097280"/>
          </a:xfrm>
          <a:prstGeom prst="rect">
            <a:avLst/>
          </a:prstGeom>
          <a:noFill/>
          <a:ln/>
        </p:spPr>
        <p:txBody>
          <a:bodyPr wrap="square" lIns="0" tIns="0" rIns="0" bIns="0" rtlCol="0" anchor="t"/>
          <a:lstStyle/>
          <a:p>
            <a:pPr indent="0" marL="0">
              <a:buNone/>
            </a:pPr>
            <a:r>
              <a:rPr lang="en-US" sz="1400" dirty="0">
                <a:solidFill>
                  <a:srgbClr val="D6E2F3"/>
                </a:solidFill>
                <a:latin typeface="Calibri" pitchFamily="34" charset="0"/>
                <a:ea typeface="Calibri" pitchFamily="34" charset="-122"/>
                <a:cs typeface="Calibri" pitchFamily="34" charset="-120"/>
              </a:rPr>
              <a:t>Facilities are identified by ID only. The master file contains department data.</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A33"/>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F7BFF"/>
          </a:solidFill>
          <a:ln w="12700">
            <a:solidFill>
              <a:srgbClr val="2F7BFF"/>
            </a:solidFill>
            <a:prstDash val="solid"/>
          </a:ln>
        </p:spPr>
      </p:sp>
      <p:sp>
        <p:nvSpPr>
          <p:cNvPr id="3" name="Text 1"/>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100" kern="0" dirty="0">
                <a:solidFill>
                  <a:srgbClr val="1ABC9C"/>
                </a:solidFill>
                <a:latin typeface="Calibri" pitchFamily="34" charset="0"/>
                <a:ea typeface="Calibri" pitchFamily="34" charset="-122"/>
                <a:cs typeface="Calibri" pitchFamily="34" charset="-120"/>
              </a:rPr>
              <a:t>APPROACH</a:t>
            </a:r>
            <a:endParaRPr lang="en-US" sz="1100" dirty="0"/>
          </a:p>
        </p:txBody>
      </p:sp>
      <p:sp>
        <p:nvSpPr>
          <p:cNvPr id="4" name="Text 2"/>
          <p:cNvSpPr txBox="1"/>
          <p:nvPr/>
        </p:nvSpPr>
        <p:spPr>
          <a:xfrm>
            <a:off x="548640" y="594360"/>
            <a:ext cx="11064240" cy="822960"/>
          </a:xfrm>
          <a:prstGeom prst="rect">
            <a:avLst/>
          </a:prstGeom>
          <a:noFill/>
          <a:ln/>
        </p:spPr>
        <p:txBody>
          <a:bodyPr wrap="square" lIns="0" tIns="0" rIns="0" bIns="0" rtlCol="0" anchor="t"/>
          <a:lstStyle/>
          <a:p>
            <a:pPr indent="0" marL="0">
              <a:buNone/>
            </a:pPr>
            <a:r>
              <a:rPr lang="en-US" sz="2800" b="1" dirty="0">
                <a:solidFill>
                  <a:srgbClr val="FFFFFF"/>
                </a:solidFill>
                <a:latin typeface="Calibri" pitchFamily="34" charset="0"/>
                <a:ea typeface="Calibri" pitchFamily="34" charset="-122"/>
                <a:cs typeface="Calibri" pitchFamily="34" charset="-120"/>
              </a:rPr>
              <a:t>How the analysis was built</a:t>
            </a:r>
            <a:endParaRPr lang="en-US" sz="2800" dirty="0"/>
          </a:p>
        </p:txBody>
      </p:sp>
      <p:sp>
        <p:nvSpPr>
          <p:cNvPr id="5" name="Shape 3"/>
          <p:cNvSpPr/>
          <p:nvPr/>
        </p:nvSpPr>
        <p:spPr>
          <a:xfrm>
            <a:off x="548640" y="1828800"/>
            <a:ext cx="2606040" cy="3291840"/>
          </a:xfrm>
          <a:prstGeom prst="roundRect">
            <a:avLst>
              <a:gd name="adj" fmla="val 3509"/>
            </a:avLst>
          </a:prstGeom>
          <a:solidFill>
            <a:srgbClr val="12264A">
              <a:alpha val="70000"/>
            </a:srgbClr>
          </a:solidFill>
          <a:ln w="12700">
            <a:solidFill>
              <a:srgbClr val="3C6FB0"/>
            </a:solidFill>
            <a:prstDash val="solid"/>
          </a:ln>
        </p:spPr>
      </p:sp>
      <p:sp>
        <p:nvSpPr>
          <p:cNvPr id="6" name="Text 4"/>
          <p:cNvSpPr txBox="1"/>
          <p:nvPr/>
        </p:nvSpPr>
        <p:spPr>
          <a:xfrm>
            <a:off x="731520" y="2011680"/>
            <a:ext cx="2286000" cy="457200"/>
          </a:xfrm>
          <a:prstGeom prst="rect">
            <a:avLst/>
          </a:prstGeom>
          <a:noFill/>
          <a:ln/>
        </p:spPr>
        <p:txBody>
          <a:bodyPr wrap="square" lIns="0" tIns="0" rIns="0" bIns="0" rtlCol="0" anchor="ctr"/>
          <a:lstStyle/>
          <a:p>
            <a:pPr indent="0" marL="0">
              <a:buNone/>
            </a:pPr>
            <a:r>
              <a:rPr lang="en-US" sz="1800" b="1" dirty="0">
                <a:solidFill>
                  <a:srgbClr val="2F7BFF"/>
                </a:solidFill>
                <a:latin typeface="Calibri" pitchFamily="34" charset="0"/>
                <a:ea typeface="Calibri" pitchFamily="34" charset="-122"/>
                <a:cs typeface="Calibri" pitchFamily="34" charset="-120"/>
              </a:rPr>
              <a:t>1. Load</a:t>
            </a:r>
            <a:endParaRPr lang="en-US" sz="1800" dirty="0"/>
          </a:p>
        </p:txBody>
      </p:sp>
      <p:sp>
        <p:nvSpPr>
          <p:cNvPr id="7" name="Text 5"/>
          <p:cNvSpPr txBox="1"/>
          <p:nvPr/>
        </p:nvSpPr>
        <p:spPr>
          <a:xfrm>
            <a:off x="731520" y="2606040"/>
            <a:ext cx="2286000" cy="2286000"/>
          </a:xfrm>
          <a:prstGeom prst="rect">
            <a:avLst/>
          </a:prstGeom>
          <a:noFill/>
          <a:ln/>
        </p:spPr>
        <p:txBody>
          <a:bodyPr wrap="square" lIns="0" tIns="0" rIns="0" bIns="0" rtlCol="0" anchor="t"/>
          <a:lstStyle/>
          <a:p>
            <a:pPr indent="0" marL="0">
              <a:buNone/>
            </a:pPr>
            <a:r>
              <a:rPr lang="en-US" sz="1400" dirty="0">
                <a:solidFill>
                  <a:srgbClr val="D6E2F3"/>
                </a:solidFill>
                <a:latin typeface="Calibri" pitchFamily="34" charset="0"/>
                <a:ea typeface="Calibri" pitchFamily="34" charset="-122"/>
                <a:cs typeface="Calibri" pitchFamily="34" charset="-120"/>
              </a:rPr>
              <a:t>PostgreSQL database, 27 tables, checked for row counts and keys</a:t>
            </a:r>
            <a:endParaRPr lang="en-US" sz="1400" dirty="0"/>
          </a:p>
        </p:txBody>
      </p:sp>
      <p:sp>
        <p:nvSpPr>
          <p:cNvPr id="8" name="Shape 6"/>
          <p:cNvSpPr/>
          <p:nvPr/>
        </p:nvSpPr>
        <p:spPr>
          <a:xfrm>
            <a:off x="3383280" y="1828800"/>
            <a:ext cx="2606040" cy="3291840"/>
          </a:xfrm>
          <a:prstGeom prst="roundRect">
            <a:avLst>
              <a:gd name="adj" fmla="val 3509"/>
            </a:avLst>
          </a:prstGeom>
          <a:solidFill>
            <a:srgbClr val="12264A">
              <a:alpha val="70000"/>
            </a:srgbClr>
          </a:solidFill>
          <a:ln w="12700">
            <a:solidFill>
              <a:srgbClr val="3C6FB0"/>
            </a:solidFill>
            <a:prstDash val="solid"/>
          </a:ln>
        </p:spPr>
      </p:sp>
      <p:sp>
        <p:nvSpPr>
          <p:cNvPr id="9" name="Text 7"/>
          <p:cNvSpPr txBox="1"/>
          <p:nvPr/>
        </p:nvSpPr>
        <p:spPr>
          <a:xfrm>
            <a:off x="3566160" y="2011680"/>
            <a:ext cx="2286000" cy="457200"/>
          </a:xfrm>
          <a:prstGeom prst="rect">
            <a:avLst/>
          </a:prstGeom>
          <a:noFill/>
          <a:ln/>
        </p:spPr>
        <p:txBody>
          <a:bodyPr wrap="square" lIns="0" tIns="0" rIns="0" bIns="0" rtlCol="0" anchor="ctr"/>
          <a:lstStyle/>
          <a:p>
            <a:pPr indent="0" marL="0">
              <a:buNone/>
            </a:pPr>
            <a:r>
              <a:rPr lang="en-US" sz="1800" b="1" dirty="0">
                <a:solidFill>
                  <a:srgbClr val="2F7BFF"/>
                </a:solidFill>
                <a:latin typeface="Calibri" pitchFamily="34" charset="0"/>
                <a:ea typeface="Calibri" pitchFamily="34" charset="-122"/>
                <a:cs typeface="Calibri" pitchFamily="34" charset="-120"/>
              </a:rPr>
              <a:t>2. Query</a:t>
            </a:r>
            <a:endParaRPr lang="en-US" sz="1800" dirty="0"/>
          </a:p>
        </p:txBody>
      </p:sp>
      <p:sp>
        <p:nvSpPr>
          <p:cNvPr id="10" name="Text 8"/>
          <p:cNvSpPr txBox="1"/>
          <p:nvPr/>
        </p:nvSpPr>
        <p:spPr>
          <a:xfrm>
            <a:off x="3566160" y="2606040"/>
            <a:ext cx="2286000" cy="2286000"/>
          </a:xfrm>
          <a:prstGeom prst="rect">
            <a:avLst/>
          </a:prstGeom>
          <a:noFill/>
          <a:ln/>
        </p:spPr>
        <p:txBody>
          <a:bodyPr wrap="square" lIns="0" tIns="0" rIns="0" bIns="0" rtlCol="0" anchor="t"/>
          <a:lstStyle/>
          <a:p>
            <a:pPr indent="0" marL="0">
              <a:buNone/>
            </a:pPr>
            <a:r>
              <a:rPr lang="en-US" sz="1400" dirty="0">
                <a:solidFill>
                  <a:srgbClr val="D6E2F3"/>
                </a:solidFill>
                <a:latin typeface="Calibri" pitchFamily="34" charset="0"/>
                <a:ea typeface="Calibri" pitchFamily="34" charset="-122"/>
                <a:cs typeface="Calibri" pitchFamily="34" charset="-120"/>
              </a:rPr>
              <a:t>40 SQL questions, tested and checked against reference values</a:t>
            </a:r>
            <a:endParaRPr lang="en-US" sz="1400" dirty="0"/>
          </a:p>
        </p:txBody>
      </p:sp>
      <p:sp>
        <p:nvSpPr>
          <p:cNvPr id="11" name="Shape 9"/>
          <p:cNvSpPr/>
          <p:nvPr/>
        </p:nvSpPr>
        <p:spPr>
          <a:xfrm>
            <a:off x="6217920" y="1828800"/>
            <a:ext cx="2606040" cy="3291840"/>
          </a:xfrm>
          <a:prstGeom prst="roundRect">
            <a:avLst>
              <a:gd name="adj" fmla="val 3509"/>
            </a:avLst>
          </a:prstGeom>
          <a:solidFill>
            <a:srgbClr val="12264A">
              <a:alpha val="70000"/>
            </a:srgbClr>
          </a:solidFill>
          <a:ln w="12700">
            <a:solidFill>
              <a:srgbClr val="3C6FB0"/>
            </a:solidFill>
            <a:prstDash val="solid"/>
          </a:ln>
        </p:spPr>
      </p:sp>
      <p:sp>
        <p:nvSpPr>
          <p:cNvPr id="12" name="Text 10"/>
          <p:cNvSpPr txBox="1"/>
          <p:nvPr/>
        </p:nvSpPr>
        <p:spPr>
          <a:xfrm>
            <a:off x="6400800" y="2011680"/>
            <a:ext cx="2286000" cy="457200"/>
          </a:xfrm>
          <a:prstGeom prst="rect">
            <a:avLst/>
          </a:prstGeom>
          <a:noFill/>
          <a:ln/>
        </p:spPr>
        <p:txBody>
          <a:bodyPr wrap="square" lIns="0" tIns="0" rIns="0" bIns="0" rtlCol="0" anchor="ctr"/>
          <a:lstStyle/>
          <a:p>
            <a:pPr indent="0" marL="0">
              <a:buNone/>
            </a:pPr>
            <a:r>
              <a:rPr lang="en-US" sz="1800" b="1" dirty="0">
                <a:solidFill>
                  <a:srgbClr val="2F7BFF"/>
                </a:solidFill>
                <a:latin typeface="Calibri" pitchFamily="34" charset="0"/>
                <a:ea typeface="Calibri" pitchFamily="34" charset="-122"/>
                <a:cs typeface="Calibri" pitchFamily="34" charset="-120"/>
              </a:rPr>
              <a:t>3. Model</a:t>
            </a:r>
            <a:endParaRPr lang="en-US" sz="1800" dirty="0"/>
          </a:p>
        </p:txBody>
      </p:sp>
      <p:sp>
        <p:nvSpPr>
          <p:cNvPr id="13" name="Text 11"/>
          <p:cNvSpPr txBox="1"/>
          <p:nvPr/>
        </p:nvSpPr>
        <p:spPr>
          <a:xfrm>
            <a:off x="6400800" y="2606040"/>
            <a:ext cx="2286000" cy="2286000"/>
          </a:xfrm>
          <a:prstGeom prst="rect">
            <a:avLst/>
          </a:prstGeom>
          <a:noFill/>
          <a:ln/>
        </p:spPr>
        <p:txBody>
          <a:bodyPr wrap="square" lIns="0" tIns="0" rIns="0" bIns="0" rtlCol="0" anchor="t"/>
          <a:lstStyle/>
          <a:p>
            <a:pPr indent="0" marL="0">
              <a:buNone/>
            </a:pPr>
            <a:r>
              <a:rPr lang="en-US" sz="1400" dirty="0">
                <a:solidFill>
                  <a:srgbClr val="D6E2F3"/>
                </a:solidFill>
                <a:latin typeface="Calibri" pitchFamily="34" charset="0"/>
                <a:ea typeface="Calibri" pitchFamily="34" charset="-122"/>
                <a:cs typeface="Calibri" pitchFamily="34" charset="-120"/>
              </a:rPr>
              <a:t>Power BI star-style model with 17 measures on the core tables</a:t>
            </a:r>
            <a:endParaRPr lang="en-US" sz="1400" dirty="0"/>
          </a:p>
        </p:txBody>
      </p:sp>
      <p:sp>
        <p:nvSpPr>
          <p:cNvPr id="14" name="Shape 12"/>
          <p:cNvSpPr/>
          <p:nvPr/>
        </p:nvSpPr>
        <p:spPr>
          <a:xfrm>
            <a:off x="9052560" y="1828800"/>
            <a:ext cx="2606040" cy="3291840"/>
          </a:xfrm>
          <a:prstGeom prst="roundRect">
            <a:avLst>
              <a:gd name="adj" fmla="val 3509"/>
            </a:avLst>
          </a:prstGeom>
          <a:solidFill>
            <a:srgbClr val="12264A">
              <a:alpha val="70000"/>
            </a:srgbClr>
          </a:solidFill>
          <a:ln w="12700">
            <a:solidFill>
              <a:srgbClr val="3C6FB0"/>
            </a:solidFill>
            <a:prstDash val="solid"/>
          </a:ln>
        </p:spPr>
      </p:sp>
      <p:sp>
        <p:nvSpPr>
          <p:cNvPr id="15" name="Text 13"/>
          <p:cNvSpPr txBox="1"/>
          <p:nvPr/>
        </p:nvSpPr>
        <p:spPr>
          <a:xfrm>
            <a:off x="9235440" y="2011680"/>
            <a:ext cx="2286000" cy="457200"/>
          </a:xfrm>
          <a:prstGeom prst="rect">
            <a:avLst/>
          </a:prstGeom>
          <a:noFill/>
          <a:ln/>
        </p:spPr>
        <p:txBody>
          <a:bodyPr wrap="square" lIns="0" tIns="0" rIns="0" bIns="0" rtlCol="0" anchor="ctr"/>
          <a:lstStyle/>
          <a:p>
            <a:pPr indent="0" marL="0">
              <a:buNone/>
            </a:pPr>
            <a:r>
              <a:rPr lang="en-US" sz="1800" b="1" dirty="0">
                <a:solidFill>
                  <a:srgbClr val="2F7BFF"/>
                </a:solidFill>
                <a:latin typeface="Calibri" pitchFamily="34" charset="0"/>
                <a:ea typeface="Calibri" pitchFamily="34" charset="-122"/>
                <a:cs typeface="Calibri" pitchFamily="34" charset="-120"/>
              </a:rPr>
              <a:t>4. Report</a:t>
            </a:r>
            <a:endParaRPr lang="en-US" sz="1800" dirty="0"/>
          </a:p>
        </p:txBody>
      </p:sp>
      <p:sp>
        <p:nvSpPr>
          <p:cNvPr id="16" name="Text 14"/>
          <p:cNvSpPr txBox="1"/>
          <p:nvPr/>
        </p:nvSpPr>
        <p:spPr>
          <a:xfrm>
            <a:off x="9235440" y="2606040"/>
            <a:ext cx="2286000" cy="2286000"/>
          </a:xfrm>
          <a:prstGeom prst="rect">
            <a:avLst/>
          </a:prstGeom>
          <a:noFill/>
          <a:ln/>
        </p:spPr>
        <p:txBody>
          <a:bodyPr wrap="square" lIns="0" tIns="0" rIns="0" bIns="0" rtlCol="0" anchor="t"/>
          <a:lstStyle/>
          <a:p>
            <a:pPr indent="0" marL="0">
              <a:buNone/>
            </a:pPr>
            <a:r>
              <a:rPr lang="en-US" sz="1400" dirty="0">
                <a:solidFill>
                  <a:srgbClr val="D6E2F3"/>
                </a:solidFill>
                <a:latin typeface="Calibri" pitchFamily="34" charset="0"/>
                <a:ea typeface="Calibri" pitchFamily="34" charset="-122"/>
                <a:cs typeface="Calibri" pitchFamily="34" charset="-120"/>
              </a:rPr>
              <a:t>Six dashboard pages, each verified, plus a written insights report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A33"/>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F7BFF"/>
          </a:solidFill>
          <a:ln w="12700">
            <a:solidFill>
              <a:srgbClr val="2F7BFF"/>
            </a:solidFill>
            <a:prstDash val="solid"/>
          </a:ln>
        </p:spPr>
      </p:sp>
      <p:sp>
        <p:nvSpPr>
          <p:cNvPr id="3" name="Text 1"/>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100" kern="0" dirty="0">
                <a:solidFill>
                  <a:srgbClr val="1ABC9C"/>
                </a:solidFill>
                <a:latin typeface="Calibri" pitchFamily="34" charset="0"/>
                <a:ea typeface="Calibri" pitchFamily="34" charset="-122"/>
                <a:cs typeface="Calibri" pitchFamily="34" charset="-120"/>
              </a:rPr>
              <a:t>PATIENTS</a:t>
            </a:r>
            <a:endParaRPr lang="en-US" sz="1100" dirty="0"/>
          </a:p>
        </p:txBody>
      </p:sp>
      <p:sp>
        <p:nvSpPr>
          <p:cNvPr id="4" name="Text 2"/>
          <p:cNvSpPr txBox="1"/>
          <p:nvPr/>
        </p:nvSpPr>
        <p:spPr>
          <a:xfrm>
            <a:off x="548640" y="594360"/>
            <a:ext cx="11064240" cy="822960"/>
          </a:xfrm>
          <a:prstGeom prst="rect">
            <a:avLst/>
          </a:prstGeom>
          <a:noFill/>
          <a:ln/>
        </p:spPr>
        <p:txBody>
          <a:bodyPr wrap="square" lIns="0" tIns="0" rIns="0" bIns="0" rtlCol="0" anchor="t"/>
          <a:lstStyle/>
          <a:p>
            <a:pPr indent="0" marL="0">
              <a:buNone/>
            </a:pPr>
            <a:r>
              <a:rPr lang="en-US" sz="2800" b="1" dirty="0">
                <a:solidFill>
                  <a:srgbClr val="FFFFFF"/>
                </a:solidFill>
                <a:latin typeface="Calibri" pitchFamily="34" charset="0"/>
                <a:ea typeface="Calibri" pitchFamily="34" charset="-122"/>
                <a:cs typeface="Calibri" pitchFamily="34" charset="-120"/>
              </a:rPr>
              <a:t>Patients are split evenly across gender and provinces</a:t>
            </a:r>
            <a:endParaRPr lang="en-US" sz="2800" dirty="0"/>
          </a:p>
        </p:txBody>
      </p:sp>
      <p:sp>
        <p:nvSpPr>
          <p:cNvPr id="5" name="Shape 3"/>
          <p:cNvSpPr/>
          <p:nvPr/>
        </p:nvSpPr>
        <p:spPr>
          <a:xfrm>
            <a:off x="548640" y="1737360"/>
            <a:ext cx="2651760" cy="1234440"/>
          </a:xfrm>
          <a:prstGeom prst="roundRect">
            <a:avLst>
              <a:gd name="adj" fmla="val 7407"/>
            </a:avLst>
          </a:prstGeom>
          <a:solidFill>
            <a:srgbClr val="12264A">
              <a:alpha val="70000"/>
            </a:srgbClr>
          </a:solidFill>
          <a:ln w="15875">
            <a:solidFill>
              <a:srgbClr val="2F7BFF"/>
            </a:solidFill>
            <a:prstDash val="solid"/>
          </a:ln>
        </p:spPr>
      </p:sp>
      <p:sp>
        <p:nvSpPr>
          <p:cNvPr id="6" name="Text 4"/>
          <p:cNvSpPr txBox="1"/>
          <p:nvPr/>
        </p:nvSpPr>
        <p:spPr>
          <a:xfrm>
            <a:off x="731520" y="1874520"/>
            <a:ext cx="2286000" cy="548640"/>
          </a:xfrm>
          <a:prstGeom prst="rect">
            <a:avLst/>
          </a:prstGeom>
          <a:noFill/>
          <a:ln/>
        </p:spPr>
        <p:txBody>
          <a:bodyPr wrap="square" lIns="0" tIns="0" rIns="0" bIns="0" rtlCol="0" anchor="ctr"/>
          <a:lstStyle/>
          <a:p>
            <a:pPr indent="0" marL="0">
              <a:buNone/>
            </a:pPr>
            <a:r>
              <a:rPr lang="en-US" sz="2600" b="1" dirty="0">
                <a:solidFill>
                  <a:srgbClr val="2F7BFF"/>
                </a:solidFill>
                <a:latin typeface="Calibri" pitchFamily="34" charset="0"/>
                <a:ea typeface="Calibri" pitchFamily="34" charset="-122"/>
                <a:cs typeface="Calibri" pitchFamily="34" charset="-120"/>
              </a:rPr>
              <a:t>20,000</a:t>
            </a:r>
            <a:endParaRPr lang="en-US" sz="2600" dirty="0"/>
          </a:p>
        </p:txBody>
      </p:sp>
      <p:sp>
        <p:nvSpPr>
          <p:cNvPr id="7" name="Text 5"/>
          <p:cNvSpPr txBox="1"/>
          <p:nvPr/>
        </p:nvSpPr>
        <p:spPr>
          <a:xfrm>
            <a:off x="731520" y="2468880"/>
            <a:ext cx="2286000" cy="411480"/>
          </a:xfrm>
          <a:prstGeom prst="rect">
            <a:avLst/>
          </a:prstGeom>
          <a:noFill/>
          <a:ln/>
        </p:spPr>
        <p:txBody>
          <a:bodyPr wrap="square" lIns="0" tIns="0" rIns="0" bIns="0" rtlCol="0" anchor="t"/>
          <a:lstStyle/>
          <a:p>
            <a:pPr indent="0" marL="0">
              <a:buNone/>
            </a:pPr>
            <a:r>
              <a:rPr lang="en-US" sz="1200" dirty="0">
                <a:solidFill>
                  <a:srgbClr val="D6E2F3"/>
                </a:solidFill>
                <a:latin typeface="Calibri" pitchFamily="34" charset="0"/>
                <a:ea typeface="Calibri" pitchFamily="34" charset="-122"/>
                <a:cs typeface="Calibri" pitchFamily="34" charset="-120"/>
              </a:rPr>
              <a:t>registered patients</a:t>
            </a:r>
            <a:endParaRPr lang="en-US" sz="1200" dirty="0"/>
          </a:p>
        </p:txBody>
      </p:sp>
      <p:sp>
        <p:nvSpPr>
          <p:cNvPr id="8" name="Shape 6"/>
          <p:cNvSpPr/>
          <p:nvPr/>
        </p:nvSpPr>
        <p:spPr>
          <a:xfrm>
            <a:off x="3383280" y="1737360"/>
            <a:ext cx="2651760" cy="1234440"/>
          </a:xfrm>
          <a:prstGeom prst="roundRect">
            <a:avLst>
              <a:gd name="adj" fmla="val 7407"/>
            </a:avLst>
          </a:prstGeom>
          <a:solidFill>
            <a:srgbClr val="12264A">
              <a:alpha val="70000"/>
            </a:srgbClr>
          </a:solidFill>
          <a:ln w="15875">
            <a:solidFill>
              <a:srgbClr val="7B4DFF"/>
            </a:solidFill>
            <a:prstDash val="solid"/>
          </a:ln>
        </p:spPr>
      </p:sp>
      <p:sp>
        <p:nvSpPr>
          <p:cNvPr id="9" name="Text 7"/>
          <p:cNvSpPr txBox="1"/>
          <p:nvPr/>
        </p:nvSpPr>
        <p:spPr>
          <a:xfrm>
            <a:off x="3566160" y="1874520"/>
            <a:ext cx="2286000" cy="548640"/>
          </a:xfrm>
          <a:prstGeom prst="rect">
            <a:avLst/>
          </a:prstGeom>
          <a:noFill/>
          <a:ln/>
        </p:spPr>
        <p:txBody>
          <a:bodyPr wrap="square" lIns="0" tIns="0" rIns="0" bIns="0" rtlCol="0" anchor="ctr"/>
          <a:lstStyle/>
          <a:p>
            <a:pPr indent="0" marL="0">
              <a:buNone/>
            </a:pPr>
            <a:r>
              <a:rPr lang="en-US" sz="2600" b="1" dirty="0">
                <a:solidFill>
                  <a:srgbClr val="7B4DFF"/>
                </a:solidFill>
                <a:latin typeface="Calibri" pitchFamily="34" charset="0"/>
                <a:ea typeface="Calibri" pitchFamily="34" charset="-122"/>
                <a:cs typeface="Calibri" pitchFamily="34" charset="-120"/>
              </a:rPr>
              <a:t>45</a:t>
            </a:r>
            <a:endParaRPr lang="en-US" sz="2600" dirty="0"/>
          </a:p>
        </p:txBody>
      </p:sp>
      <p:sp>
        <p:nvSpPr>
          <p:cNvPr id="10" name="Text 8"/>
          <p:cNvSpPr txBox="1"/>
          <p:nvPr/>
        </p:nvSpPr>
        <p:spPr>
          <a:xfrm>
            <a:off x="3566160" y="2468880"/>
            <a:ext cx="2286000" cy="411480"/>
          </a:xfrm>
          <a:prstGeom prst="rect">
            <a:avLst/>
          </a:prstGeom>
          <a:noFill/>
          <a:ln/>
        </p:spPr>
        <p:txBody>
          <a:bodyPr wrap="square" lIns="0" tIns="0" rIns="0" bIns="0" rtlCol="0" anchor="t"/>
          <a:lstStyle/>
          <a:p>
            <a:pPr indent="0" marL="0">
              <a:buNone/>
            </a:pPr>
            <a:r>
              <a:rPr lang="en-US" sz="1200" dirty="0">
                <a:solidFill>
                  <a:srgbClr val="D6E2F3"/>
                </a:solidFill>
                <a:latin typeface="Calibri" pitchFamily="34" charset="0"/>
                <a:ea typeface="Calibri" pitchFamily="34" charset="-122"/>
                <a:cs typeface="Calibri" pitchFamily="34" charset="-120"/>
              </a:rPr>
              <a:t>average age</a:t>
            </a:r>
            <a:endParaRPr lang="en-US" sz="1200" dirty="0"/>
          </a:p>
        </p:txBody>
      </p:sp>
      <p:sp>
        <p:nvSpPr>
          <p:cNvPr id="11" name="Shape 9"/>
          <p:cNvSpPr/>
          <p:nvPr/>
        </p:nvSpPr>
        <p:spPr>
          <a:xfrm>
            <a:off x="6217920" y="1737360"/>
            <a:ext cx="2651760" cy="1234440"/>
          </a:xfrm>
          <a:prstGeom prst="roundRect">
            <a:avLst>
              <a:gd name="adj" fmla="val 7407"/>
            </a:avLst>
          </a:prstGeom>
          <a:solidFill>
            <a:srgbClr val="12264A">
              <a:alpha val="70000"/>
            </a:srgbClr>
          </a:solidFill>
          <a:ln w="15875">
            <a:solidFill>
              <a:srgbClr val="1ABC9C"/>
            </a:solidFill>
            <a:prstDash val="solid"/>
          </a:ln>
        </p:spPr>
      </p:sp>
      <p:sp>
        <p:nvSpPr>
          <p:cNvPr id="12" name="Text 10"/>
          <p:cNvSpPr txBox="1"/>
          <p:nvPr/>
        </p:nvSpPr>
        <p:spPr>
          <a:xfrm>
            <a:off x="6400800" y="1874520"/>
            <a:ext cx="2286000" cy="548640"/>
          </a:xfrm>
          <a:prstGeom prst="rect">
            <a:avLst/>
          </a:prstGeom>
          <a:noFill/>
          <a:ln/>
        </p:spPr>
        <p:txBody>
          <a:bodyPr wrap="square" lIns="0" tIns="0" rIns="0" bIns="0" rtlCol="0" anchor="ctr"/>
          <a:lstStyle/>
          <a:p>
            <a:pPr indent="0" marL="0">
              <a:buNone/>
            </a:pPr>
            <a:r>
              <a:rPr lang="en-US" sz="2600" b="1" dirty="0">
                <a:solidFill>
                  <a:srgbClr val="1ABC9C"/>
                </a:solidFill>
                <a:latin typeface="Calibri" pitchFamily="34" charset="0"/>
                <a:ea typeface="Calibri" pitchFamily="34" charset="-122"/>
                <a:cs typeface="Calibri" pitchFamily="34" charset="-120"/>
              </a:rPr>
              <a:t>14,929</a:t>
            </a:r>
            <a:endParaRPr lang="en-US" sz="2600" dirty="0"/>
          </a:p>
        </p:txBody>
      </p:sp>
      <p:sp>
        <p:nvSpPr>
          <p:cNvPr id="13" name="Text 11"/>
          <p:cNvSpPr txBox="1"/>
          <p:nvPr/>
        </p:nvSpPr>
        <p:spPr>
          <a:xfrm>
            <a:off x="6400800" y="2468880"/>
            <a:ext cx="2286000" cy="411480"/>
          </a:xfrm>
          <a:prstGeom prst="rect">
            <a:avLst/>
          </a:prstGeom>
          <a:noFill/>
          <a:ln/>
        </p:spPr>
        <p:txBody>
          <a:bodyPr wrap="square" lIns="0" tIns="0" rIns="0" bIns="0" rtlCol="0" anchor="t"/>
          <a:lstStyle/>
          <a:p>
            <a:pPr indent="0" marL="0">
              <a:buNone/>
            </a:pPr>
            <a:r>
              <a:rPr lang="en-US" sz="1200" dirty="0">
                <a:solidFill>
                  <a:srgbClr val="D6E2F3"/>
                </a:solidFill>
                <a:latin typeface="Calibri" pitchFamily="34" charset="0"/>
                <a:ea typeface="Calibri" pitchFamily="34" charset="-122"/>
                <a:cs typeface="Calibri" pitchFamily="34" charset="-120"/>
              </a:rPr>
              <a:t>patients with a chronic condition</a:t>
            </a:r>
            <a:endParaRPr lang="en-US" sz="1200" dirty="0"/>
          </a:p>
        </p:txBody>
      </p:sp>
      <p:sp>
        <p:nvSpPr>
          <p:cNvPr id="14" name="Text 12"/>
          <p:cNvSpPr txBox="1"/>
          <p:nvPr/>
        </p:nvSpPr>
        <p:spPr>
          <a:xfrm>
            <a:off x="548640" y="3291840"/>
            <a:ext cx="5669280" cy="26517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D6E2F3"/>
                </a:solidFill>
                <a:latin typeface="Calibri" pitchFamily="34" charset="0"/>
                <a:ea typeface="Calibri" pitchFamily="34" charset="-122"/>
                <a:cs typeface="Calibri" pitchFamily="34" charset="-120"/>
              </a:rPr>
              <a:t>Gender: 10,090 male and 9,910 female.</a:t>
            </a:r>
            <a:endParaRPr lang="en-US" sz="1600" dirty="0"/>
          </a:p>
          <a:p>
            <a:pPr marL="342900" indent="-342900">
              <a:spcAft>
                <a:spcPts val="1000"/>
              </a:spcAft>
              <a:buSzPct val="100000"/>
              <a:buChar char="•"/>
            </a:pPr>
            <a:r>
              <a:rPr lang="en-US" sz="1600" dirty="0">
                <a:solidFill>
                  <a:srgbClr val="D6E2F3"/>
                </a:solidFill>
                <a:latin typeface="Calibri" pitchFamily="34" charset="0"/>
                <a:ea typeface="Calibri" pitchFamily="34" charset="-122"/>
                <a:cs typeface="Calibri" pitchFamily="34" charset="-120"/>
              </a:rPr>
              <a:t>Provinces: between 3,923 and 4,091 patients each, with Western the largest.</a:t>
            </a:r>
            <a:endParaRPr lang="en-US" sz="1600" dirty="0"/>
          </a:p>
          <a:p>
            <a:pPr marL="342900" indent="-342900">
              <a:spcAft>
                <a:spcPts val="1000"/>
              </a:spcAft>
              <a:buSzPct val="100000"/>
              <a:buChar char="•"/>
            </a:pPr>
            <a:r>
              <a:rPr lang="en-US" sz="1600" dirty="0">
                <a:solidFill>
                  <a:srgbClr val="D6E2F3"/>
                </a:solidFill>
                <a:latin typeface="Calibri" pitchFamily="34" charset="0"/>
                <a:ea typeface="Calibri" pitchFamily="34" charset="-122"/>
                <a:cs typeface="Calibri" pitchFamily="34" charset="-120"/>
              </a:rPr>
              <a:t>Chronic conditions: asthma 4,996, hypertension 4,988, diabetes 4,945.</a:t>
            </a:r>
            <a:endParaRPr lang="en-US" sz="1600" dirty="0"/>
          </a:p>
        </p:txBody>
      </p:sp>
      <p:graphicFrame>
        <p:nvGraphicFramePr>
          <p:cNvPr id="15" name="Chart 0" descr=""/>
          <p:cNvGraphicFramePr/>
          <p:nvPr/>
        </p:nvGraphicFramePr>
        <p:xfrm>
          <a:off x="6675120" y="3200400"/>
          <a:ext cx="4937760" cy="27432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A33"/>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F7BFF"/>
          </a:solidFill>
          <a:ln w="12700">
            <a:solidFill>
              <a:srgbClr val="2F7BFF"/>
            </a:solidFill>
            <a:prstDash val="solid"/>
          </a:ln>
        </p:spPr>
      </p:sp>
      <p:sp>
        <p:nvSpPr>
          <p:cNvPr id="3" name="Text 1"/>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100" kern="0" dirty="0">
                <a:solidFill>
                  <a:srgbClr val="1ABC9C"/>
                </a:solidFill>
                <a:latin typeface="Calibri" pitchFamily="34" charset="0"/>
                <a:ea typeface="Calibri" pitchFamily="34" charset="-122"/>
                <a:cs typeface="Calibri" pitchFamily="34" charset="-120"/>
              </a:rPr>
              <a:t>CLINICAL ACTIVITY</a:t>
            </a:r>
            <a:endParaRPr lang="en-US" sz="1100" dirty="0"/>
          </a:p>
        </p:txBody>
      </p:sp>
      <p:sp>
        <p:nvSpPr>
          <p:cNvPr id="4" name="Text 2"/>
          <p:cNvSpPr txBox="1"/>
          <p:nvPr/>
        </p:nvSpPr>
        <p:spPr>
          <a:xfrm>
            <a:off x="548640" y="594360"/>
            <a:ext cx="11064240" cy="822960"/>
          </a:xfrm>
          <a:prstGeom prst="rect">
            <a:avLst/>
          </a:prstGeom>
          <a:noFill/>
          <a:ln/>
        </p:spPr>
        <p:txBody>
          <a:bodyPr wrap="square" lIns="0" tIns="0" rIns="0" bIns="0" rtlCol="0" anchor="t"/>
          <a:lstStyle/>
          <a:p>
            <a:pPr indent="0" marL="0">
              <a:buNone/>
            </a:pPr>
            <a:r>
              <a:rPr lang="en-US" sz="2800" b="1" dirty="0">
                <a:solidFill>
                  <a:srgbClr val="FFFFFF"/>
                </a:solidFill>
                <a:latin typeface="Calibri" pitchFamily="34" charset="0"/>
                <a:ea typeface="Calibri" pitchFamily="34" charset="-122"/>
                <a:cs typeface="Calibri" pitchFamily="34" charset="-120"/>
              </a:rPr>
              <a:t>Visits and diagnoses are spread evenly</a:t>
            </a:r>
            <a:endParaRPr lang="en-US" sz="2800" dirty="0"/>
          </a:p>
        </p:txBody>
      </p:sp>
      <p:graphicFrame>
        <p:nvGraphicFramePr>
          <p:cNvPr id="5" name="Chart 0" descr=""/>
          <p:cNvGraphicFramePr/>
          <p:nvPr/>
        </p:nvGraphicFramePr>
        <p:xfrm>
          <a:off x="548640" y="1737360"/>
          <a:ext cx="411480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937760" y="1737360"/>
          <a:ext cx="6675120" cy="3291840"/>
        </p:xfrm>
        <a:graphic xmlns:a="http://schemas.openxmlformats.org/drawingml/2006/main">
          <a:graphicData uri="http://schemas.openxmlformats.org/drawingml/2006/chart">
            <c:chart xmlns:c="http://schemas.openxmlformats.org/drawingml/2006/chart" r:id="rId2"/>
          </a:graphicData>
        </a:graphic>
      </p:graphicFrame>
      <p:sp>
        <p:nvSpPr>
          <p:cNvPr id="7" name="Text 3"/>
          <p:cNvSpPr txBox="1"/>
          <p:nvPr/>
        </p:nvSpPr>
        <p:spPr>
          <a:xfrm>
            <a:off x="4937760" y="5212080"/>
            <a:ext cx="6675120" cy="822960"/>
          </a:xfrm>
          <a:prstGeom prst="rect">
            <a:avLst/>
          </a:prstGeom>
          <a:noFill/>
          <a:ln/>
        </p:spPr>
        <p:txBody>
          <a:bodyPr wrap="square" lIns="0" tIns="0" rIns="0" bIns="0" rtlCol="0" anchor="t"/>
          <a:lstStyle/>
          <a:p>
            <a:pPr indent="0" marL="0">
              <a:buNone/>
            </a:pPr>
            <a:r>
              <a:rPr lang="en-US" sz="1300" dirty="0">
                <a:solidFill>
                  <a:srgbClr val="D6E2F3"/>
                </a:solidFill>
                <a:latin typeface="Calibri" pitchFamily="34" charset="0"/>
                <a:ea typeface="Calibri" pitchFamily="34" charset="-122"/>
                <a:cs typeface="Calibri" pitchFamily="34" charset="-120"/>
              </a:rPr>
              <a:t>Severity is also balanced: 20,190 mild, 19,827 moderate and 19,983 severe. Emergency visits (1,650) are a proxy for referrals, which are not recorded.</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A33"/>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F7BFF"/>
          </a:solidFill>
          <a:ln w="12700">
            <a:solidFill>
              <a:srgbClr val="2F7BFF"/>
            </a:solidFill>
            <a:prstDash val="solid"/>
          </a:ln>
        </p:spPr>
      </p:sp>
      <p:sp>
        <p:nvSpPr>
          <p:cNvPr id="3" name="Text 1"/>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100" kern="0" dirty="0">
                <a:solidFill>
                  <a:srgbClr val="1ABC9C"/>
                </a:solidFill>
                <a:latin typeface="Calibri" pitchFamily="34" charset="0"/>
                <a:ea typeface="Calibri" pitchFamily="34" charset="-122"/>
                <a:cs typeface="Calibri" pitchFamily="34" charset="-120"/>
              </a:rPr>
              <a:t>FINANCIAL PERFORMANCE</a:t>
            </a:r>
            <a:endParaRPr lang="en-US" sz="1100" dirty="0"/>
          </a:p>
        </p:txBody>
      </p:sp>
      <p:sp>
        <p:nvSpPr>
          <p:cNvPr id="4" name="Text 2"/>
          <p:cNvSpPr txBox="1"/>
          <p:nvPr/>
        </p:nvSpPr>
        <p:spPr>
          <a:xfrm>
            <a:off x="548640" y="594360"/>
            <a:ext cx="11064240" cy="822960"/>
          </a:xfrm>
          <a:prstGeom prst="rect">
            <a:avLst/>
          </a:prstGeom>
          <a:noFill/>
          <a:ln/>
        </p:spPr>
        <p:txBody>
          <a:bodyPr wrap="square" lIns="0" tIns="0" rIns="0" bIns="0" rtlCol="0" anchor="t"/>
          <a:lstStyle/>
          <a:p>
            <a:pPr indent="0" marL="0">
              <a:buNone/>
            </a:pPr>
            <a:r>
              <a:rPr lang="en-US" sz="2800" b="1" dirty="0">
                <a:solidFill>
                  <a:srgbClr val="FFFFFF"/>
                </a:solidFill>
                <a:latin typeface="Calibri" pitchFamily="34" charset="0"/>
                <a:ea typeface="Calibri" pitchFamily="34" charset="-122"/>
                <a:cs typeface="Calibri" pitchFamily="34" charset="-120"/>
              </a:rPr>
              <a:t>Billed revenue holds a steady monthly pattern</a:t>
            </a:r>
            <a:endParaRPr lang="en-US" sz="2800" dirty="0"/>
          </a:p>
        </p:txBody>
      </p:sp>
      <p:graphicFrame>
        <p:nvGraphicFramePr>
          <p:cNvPr id="5" name="Chart 0" descr=""/>
          <p:cNvGraphicFramePr/>
          <p:nvPr/>
        </p:nvGraphicFramePr>
        <p:xfrm>
          <a:off x="548640" y="164592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863840" y="1737360"/>
            <a:ext cx="3749040" cy="1234440"/>
          </a:xfrm>
          <a:prstGeom prst="roundRect">
            <a:avLst>
              <a:gd name="adj" fmla="val 7407"/>
            </a:avLst>
          </a:prstGeom>
          <a:solidFill>
            <a:srgbClr val="12264A">
              <a:alpha val="70000"/>
            </a:srgbClr>
          </a:solidFill>
          <a:ln w="15875">
            <a:solidFill>
              <a:srgbClr val="2F7BFF"/>
            </a:solidFill>
            <a:prstDash val="solid"/>
          </a:ln>
        </p:spPr>
      </p:sp>
      <p:sp>
        <p:nvSpPr>
          <p:cNvPr id="7" name="Text 4"/>
          <p:cNvSpPr txBox="1"/>
          <p:nvPr/>
        </p:nvSpPr>
        <p:spPr>
          <a:xfrm>
            <a:off x="8046720" y="1874520"/>
            <a:ext cx="3383280" cy="548640"/>
          </a:xfrm>
          <a:prstGeom prst="rect">
            <a:avLst/>
          </a:prstGeom>
          <a:noFill/>
          <a:ln/>
        </p:spPr>
        <p:txBody>
          <a:bodyPr wrap="square" lIns="0" tIns="0" rIns="0" bIns="0" rtlCol="0" anchor="ctr"/>
          <a:lstStyle/>
          <a:p>
            <a:pPr indent="0" marL="0">
              <a:buNone/>
            </a:pPr>
            <a:r>
              <a:rPr lang="en-US" sz="2600" b="1" dirty="0">
                <a:solidFill>
                  <a:srgbClr val="2F7BFF"/>
                </a:solidFill>
                <a:latin typeface="Calibri" pitchFamily="34" charset="0"/>
                <a:ea typeface="Calibri" pitchFamily="34" charset="-122"/>
                <a:cs typeface="Calibri" pitchFamily="34" charset="-120"/>
              </a:rPr>
              <a:t>9.31bn</a:t>
            </a:r>
            <a:endParaRPr lang="en-US" sz="2600" dirty="0"/>
          </a:p>
        </p:txBody>
      </p:sp>
      <p:sp>
        <p:nvSpPr>
          <p:cNvPr id="8" name="Text 5"/>
          <p:cNvSpPr txBox="1"/>
          <p:nvPr/>
        </p:nvSpPr>
        <p:spPr>
          <a:xfrm>
            <a:off x="8046720" y="2468880"/>
            <a:ext cx="3383280" cy="411480"/>
          </a:xfrm>
          <a:prstGeom prst="rect">
            <a:avLst/>
          </a:prstGeom>
          <a:noFill/>
          <a:ln/>
        </p:spPr>
        <p:txBody>
          <a:bodyPr wrap="square" lIns="0" tIns="0" rIns="0" bIns="0" rtlCol="0" anchor="t"/>
          <a:lstStyle/>
          <a:p>
            <a:pPr indent="0" marL="0">
              <a:buNone/>
            </a:pPr>
            <a:r>
              <a:rPr lang="en-US" sz="1200" dirty="0">
                <a:solidFill>
                  <a:srgbClr val="D6E2F3"/>
                </a:solidFill>
                <a:latin typeface="Calibri" pitchFamily="34" charset="0"/>
                <a:ea typeface="Calibri" pitchFamily="34" charset="-122"/>
                <a:cs typeface="Calibri" pitchFamily="34" charset="-120"/>
              </a:rPr>
              <a:t>total billed on all 60,000 bills</a:t>
            </a:r>
            <a:endParaRPr lang="en-US" sz="1200" dirty="0"/>
          </a:p>
        </p:txBody>
      </p:sp>
      <p:sp>
        <p:nvSpPr>
          <p:cNvPr id="9" name="Shape 6"/>
          <p:cNvSpPr/>
          <p:nvPr/>
        </p:nvSpPr>
        <p:spPr>
          <a:xfrm>
            <a:off x="7863840" y="3200400"/>
            <a:ext cx="3749040" cy="1234440"/>
          </a:xfrm>
          <a:prstGeom prst="roundRect">
            <a:avLst>
              <a:gd name="adj" fmla="val 7407"/>
            </a:avLst>
          </a:prstGeom>
          <a:solidFill>
            <a:srgbClr val="12264A">
              <a:alpha val="70000"/>
            </a:srgbClr>
          </a:solidFill>
          <a:ln w="15875">
            <a:solidFill>
              <a:srgbClr val="1ABC9C"/>
            </a:solidFill>
            <a:prstDash val="solid"/>
          </a:ln>
        </p:spPr>
      </p:sp>
      <p:sp>
        <p:nvSpPr>
          <p:cNvPr id="10" name="Text 7"/>
          <p:cNvSpPr txBox="1"/>
          <p:nvPr/>
        </p:nvSpPr>
        <p:spPr>
          <a:xfrm>
            <a:off x="8046720" y="3337560"/>
            <a:ext cx="3383280" cy="548640"/>
          </a:xfrm>
          <a:prstGeom prst="rect">
            <a:avLst/>
          </a:prstGeom>
          <a:noFill/>
          <a:ln/>
        </p:spPr>
        <p:txBody>
          <a:bodyPr wrap="square" lIns="0" tIns="0" rIns="0" bIns="0" rtlCol="0" anchor="ctr"/>
          <a:lstStyle/>
          <a:p>
            <a:pPr indent="0" marL="0">
              <a:buNone/>
            </a:pPr>
            <a:r>
              <a:rPr lang="en-US" sz="2600" b="1" dirty="0">
                <a:solidFill>
                  <a:srgbClr val="1ABC9C"/>
                </a:solidFill>
                <a:latin typeface="Calibri" pitchFamily="34" charset="0"/>
                <a:ea typeface="Calibri" pitchFamily="34" charset="-122"/>
                <a:cs typeface="Calibri" pitchFamily="34" charset="-120"/>
              </a:rPr>
              <a:t>771M</a:t>
            </a:r>
            <a:endParaRPr lang="en-US" sz="2600" dirty="0"/>
          </a:p>
        </p:txBody>
      </p:sp>
      <p:sp>
        <p:nvSpPr>
          <p:cNvPr id="11" name="Text 8"/>
          <p:cNvSpPr txBox="1"/>
          <p:nvPr/>
        </p:nvSpPr>
        <p:spPr>
          <a:xfrm>
            <a:off x="8046720" y="3931920"/>
            <a:ext cx="3383280" cy="411480"/>
          </a:xfrm>
          <a:prstGeom prst="rect">
            <a:avLst/>
          </a:prstGeom>
          <a:noFill/>
          <a:ln/>
        </p:spPr>
        <p:txBody>
          <a:bodyPr wrap="square" lIns="0" tIns="0" rIns="0" bIns="0" rtlCol="0" anchor="t"/>
          <a:lstStyle/>
          <a:p>
            <a:pPr indent="0" marL="0">
              <a:buNone/>
            </a:pPr>
            <a:r>
              <a:rPr lang="en-US" sz="1200" dirty="0">
                <a:solidFill>
                  <a:srgbClr val="D6E2F3"/>
                </a:solidFill>
                <a:latin typeface="Calibri" pitchFamily="34" charset="0"/>
                <a:ea typeface="Calibri" pitchFamily="34" charset="-122"/>
                <a:cs typeface="Calibri" pitchFamily="34" charset="-120"/>
              </a:rPr>
              <a:t>billed on the 5,000 matched bills (basis of the trend)</a:t>
            </a:r>
            <a:endParaRPr lang="en-US" sz="1200" dirty="0"/>
          </a:p>
        </p:txBody>
      </p:sp>
      <p:sp>
        <p:nvSpPr>
          <p:cNvPr id="12" name="Text 9"/>
          <p:cNvSpPr txBox="1"/>
          <p:nvPr/>
        </p:nvSpPr>
        <p:spPr>
          <a:xfrm>
            <a:off x="7863840" y="4663440"/>
            <a:ext cx="3749040" cy="914400"/>
          </a:xfrm>
          <a:prstGeom prst="rect">
            <a:avLst/>
          </a:prstGeom>
          <a:noFill/>
          <a:ln/>
        </p:spPr>
        <p:txBody>
          <a:bodyPr wrap="square" lIns="0" tIns="0" rIns="0" bIns="0" rtlCol="0" anchor="t"/>
          <a:lstStyle/>
          <a:p>
            <a:pPr indent="0" marL="0">
              <a:buNone/>
            </a:pPr>
            <a:r>
              <a:rPr lang="en-US" sz="1300" dirty="0">
                <a:solidFill>
                  <a:srgbClr val="D6E2F3"/>
                </a:solidFill>
                <a:latin typeface="Calibri" pitchFamily="34" charset="0"/>
                <a:ea typeface="Calibri" pitchFamily="34" charset="-122"/>
                <a:cs typeface="Calibri" pitchFamily="34" charset="-120"/>
              </a:rPr>
              <a:t>Monthly range: 57.2M (September) to 70.2M (June). No sustained growth or decline.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A33"/>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F7BFF"/>
          </a:solidFill>
          <a:ln w="12700">
            <a:solidFill>
              <a:srgbClr val="2F7BFF"/>
            </a:solidFill>
            <a:prstDash val="solid"/>
          </a:ln>
        </p:spPr>
      </p:sp>
      <p:sp>
        <p:nvSpPr>
          <p:cNvPr id="3" name="Text 1"/>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100" kern="0" dirty="0">
                <a:solidFill>
                  <a:srgbClr val="1ABC9C"/>
                </a:solidFill>
                <a:latin typeface="Calibri" pitchFamily="34" charset="0"/>
                <a:ea typeface="Calibri" pitchFamily="34" charset="-122"/>
                <a:cs typeface="Calibri" pitchFamily="34" charset="-120"/>
              </a:rPr>
              <a:t>PAYMENTS AND CLAIMS</a:t>
            </a:r>
            <a:endParaRPr lang="en-US" sz="1100" dirty="0"/>
          </a:p>
        </p:txBody>
      </p:sp>
      <p:sp>
        <p:nvSpPr>
          <p:cNvPr id="4" name="Text 2"/>
          <p:cNvSpPr txBox="1"/>
          <p:nvPr/>
        </p:nvSpPr>
        <p:spPr>
          <a:xfrm>
            <a:off x="548640" y="594360"/>
            <a:ext cx="11064240" cy="822960"/>
          </a:xfrm>
          <a:prstGeom prst="rect">
            <a:avLst/>
          </a:prstGeom>
          <a:noFill/>
          <a:ln/>
        </p:spPr>
        <p:txBody>
          <a:bodyPr wrap="square" lIns="0" tIns="0" rIns="0" bIns="0" rtlCol="0" anchor="t"/>
          <a:lstStyle/>
          <a:p>
            <a:pPr indent="0" marL="0">
              <a:buNone/>
            </a:pPr>
            <a:r>
              <a:rPr lang="en-US" sz="2800" b="1" dirty="0">
                <a:solidFill>
                  <a:srgbClr val="FFFFFF"/>
                </a:solidFill>
                <a:latin typeface="Calibri" pitchFamily="34" charset="0"/>
                <a:ea typeface="Calibri" pitchFamily="34" charset="-122"/>
                <a:cs typeface="Calibri" pitchFamily="34" charset="-120"/>
              </a:rPr>
              <a:t>Payments and claims are spread across methods and insurers</a:t>
            </a:r>
            <a:endParaRPr lang="en-US" sz="2800" dirty="0"/>
          </a:p>
        </p:txBody>
      </p:sp>
      <p:graphicFrame>
        <p:nvGraphicFramePr>
          <p:cNvPr id="5" name="Chart 0" descr=""/>
          <p:cNvGraphicFramePr/>
          <p:nvPr/>
        </p:nvGraphicFramePr>
        <p:xfrm>
          <a:off x="548640" y="1737360"/>
          <a:ext cx="5394960" cy="411480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6309360" y="1737360"/>
          <a:ext cx="5394960" cy="4114800"/>
        </p:xfrm>
        <a:graphic xmlns:a="http://schemas.openxmlformats.org/drawingml/2006/main">
          <a:graphicData uri="http://schemas.openxmlformats.org/drawingml/2006/chart">
            <c:chart xmlns:c="http://schemas.openxmlformats.org/drawingml/2006/chart" r:id="rId2"/>
          </a:graphicData>
        </a:graphic>
      </p:graphicFrame>
      <p:sp>
        <p:nvSpPr>
          <p:cNvPr id="7" name="Text 3"/>
          <p:cNvSpPr txBox="1"/>
          <p:nvPr/>
        </p:nvSpPr>
        <p:spPr>
          <a:xfrm>
            <a:off x="548640" y="5943600"/>
            <a:ext cx="10972800" cy="548640"/>
          </a:xfrm>
          <a:prstGeom prst="rect">
            <a:avLst/>
          </a:prstGeom>
          <a:noFill/>
          <a:ln/>
        </p:spPr>
        <p:txBody>
          <a:bodyPr wrap="square" lIns="0" tIns="0" rIns="0" bIns="0" rtlCol="0" anchor="ctr"/>
          <a:lstStyle/>
          <a:p>
            <a:pPr indent="0" marL="0">
              <a:buNone/>
            </a:pPr>
            <a:r>
              <a:rPr lang="en-US" sz="1300" dirty="0">
                <a:solidFill>
                  <a:srgbClr val="D6E2F3"/>
                </a:solidFill>
                <a:latin typeface="Calibri" pitchFamily="34" charset="0"/>
                <a:ea typeface="Calibri" pitchFamily="34" charset="-122"/>
                <a:cs typeface="Calibri" pitchFamily="34" charset="-120"/>
              </a:rPr>
              <a:t>Payments total 8.39bn, and card is the largest method by a small margin. Claims total 4.88bn. Outstanding balance is 919.95M.</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A33"/>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F7BFF"/>
          </a:solidFill>
          <a:ln w="12700">
            <a:solidFill>
              <a:srgbClr val="2F7BFF"/>
            </a:solidFill>
            <a:prstDash val="solid"/>
          </a:ln>
        </p:spPr>
      </p:sp>
      <p:sp>
        <p:nvSpPr>
          <p:cNvPr id="3" name="Text 1"/>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100" kern="0" dirty="0">
                <a:solidFill>
                  <a:srgbClr val="1ABC9C"/>
                </a:solidFill>
                <a:latin typeface="Calibri" pitchFamily="34" charset="0"/>
                <a:ea typeface="Calibri" pitchFamily="34" charset="-122"/>
                <a:cs typeface="Calibri" pitchFamily="34" charset="-120"/>
              </a:rPr>
              <a:t>OPERATIONS</a:t>
            </a:r>
            <a:endParaRPr lang="en-US" sz="1100" dirty="0"/>
          </a:p>
        </p:txBody>
      </p:sp>
      <p:sp>
        <p:nvSpPr>
          <p:cNvPr id="4" name="Text 2"/>
          <p:cNvSpPr txBox="1"/>
          <p:nvPr/>
        </p:nvSpPr>
        <p:spPr>
          <a:xfrm>
            <a:off x="548640" y="594360"/>
            <a:ext cx="11064240" cy="822960"/>
          </a:xfrm>
          <a:prstGeom prst="rect">
            <a:avLst/>
          </a:prstGeom>
          <a:noFill/>
          <a:ln/>
        </p:spPr>
        <p:txBody>
          <a:bodyPr wrap="square" lIns="0" tIns="0" rIns="0" bIns="0" rtlCol="0" anchor="t"/>
          <a:lstStyle/>
          <a:p>
            <a:pPr indent="0" marL="0">
              <a:buNone/>
            </a:pPr>
            <a:r>
              <a:rPr lang="en-US" sz="2800" b="1" dirty="0">
                <a:solidFill>
                  <a:srgbClr val="FFFFFF"/>
                </a:solidFill>
                <a:latin typeface="Calibri" pitchFamily="34" charset="0"/>
                <a:ea typeface="Calibri" pitchFamily="34" charset="-122"/>
                <a:cs typeface="Calibri" pitchFamily="34" charset="-120"/>
              </a:rPr>
              <a:t>Staff and beds are counted, but use is not recorded</a:t>
            </a:r>
            <a:endParaRPr lang="en-US" sz="2800" dirty="0"/>
          </a:p>
        </p:txBody>
      </p:sp>
      <p:graphicFrame>
        <p:nvGraphicFramePr>
          <p:cNvPr id="5" name="Chart 0" descr=""/>
          <p:cNvGraphicFramePr/>
          <p:nvPr/>
        </p:nvGraphicFramePr>
        <p:xfrm>
          <a:off x="548640" y="1737360"/>
          <a:ext cx="6035040" cy="42062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949440" y="1737360"/>
            <a:ext cx="2286000" cy="1234440"/>
          </a:xfrm>
          <a:prstGeom prst="roundRect">
            <a:avLst>
              <a:gd name="adj" fmla="val 7407"/>
            </a:avLst>
          </a:prstGeom>
          <a:solidFill>
            <a:srgbClr val="12264A">
              <a:alpha val="70000"/>
            </a:srgbClr>
          </a:solidFill>
          <a:ln w="15875">
            <a:solidFill>
              <a:srgbClr val="2F7BFF"/>
            </a:solidFill>
            <a:prstDash val="solid"/>
          </a:ln>
        </p:spPr>
      </p:sp>
      <p:sp>
        <p:nvSpPr>
          <p:cNvPr id="7" name="Text 4"/>
          <p:cNvSpPr txBox="1"/>
          <p:nvPr/>
        </p:nvSpPr>
        <p:spPr>
          <a:xfrm>
            <a:off x="7132320" y="1874520"/>
            <a:ext cx="1920240" cy="548640"/>
          </a:xfrm>
          <a:prstGeom prst="rect">
            <a:avLst/>
          </a:prstGeom>
          <a:noFill/>
          <a:ln/>
        </p:spPr>
        <p:txBody>
          <a:bodyPr wrap="square" lIns="0" tIns="0" rIns="0" bIns="0" rtlCol="0" anchor="ctr"/>
          <a:lstStyle/>
          <a:p>
            <a:pPr indent="0" marL="0">
              <a:buNone/>
            </a:pPr>
            <a:r>
              <a:rPr lang="en-US" sz="2600" b="1" dirty="0">
                <a:solidFill>
                  <a:srgbClr val="2F7BFF"/>
                </a:solidFill>
                <a:latin typeface="Calibri" pitchFamily="34" charset="0"/>
                <a:ea typeface="Calibri" pitchFamily="34" charset="-122"/>
                <a:cs typeface="Calibri" pitchFamily="34" charset="-120"/>
              </a:rPr>
              <a:t>1,250</a:t>
            </a:r>
            <a:endParaRPr lang="en-US" sz="2600" dirty="0"/>
          </a:p>
        </p:txBody>
      </p:sp>
      <p:sp>
        <p:nvSpPr>
          <p:cNvPr id="8" name="Text 5"/>
          <p:cNvSpPr txBox="1"/>
          <p:nvPr/>
        </p:nvSpPr>
        <p:spPr>
          <a:xfrm>
            <a:off x="7132320" y="2468880"/>
            <a:ext cx="1920240" cy="411480"/>
          </a:xfrm>
          <a:prstGeom prst="rect">
            <a:avLst/>
          </a:prstGeom>
          <a:noFill/>
          <a:ln/>
        </p:spPr>
        <p:txBody>
          <a:bodyPr wrap="square" lIns="0" tIns="0" rIns="0" bIns="0" rtlCol="0" anchor="t"/>
          <a:lstStyle/>
          <a:p>
            <a:pPr indent="0" marL="0">
              <a:buNone/>
            </a:pPr>
            <a:r>
              <a:rPr lang="en-US" sz="1200" dirty="0">
                <a:solidFill>
                  <a:srgbClr val="D6E2F3"/>
                </a:solidFill>
                <a:latin typeface="Calibri" pitchFamily="34" charset="0"/>
                <a:ea typeface="Calibri" pitchFamily="34" charset="-122"/>
                <a:cs typeface="Calibri" pitchFamily="34" charset="-120"/>
              </a:rPr>
              <a:t>staff in total</a:t>
            </a:r>
            <a:endParaRPr lang="en-US" sz="1200" dirty="0"/>
          </a:p>
        </p:txBody>
      </p:sp>
      <p:sp>
        <p:nvSpPr>
          <p:cNvPr id="9" name="Shape 6"/>
          <p:cNvSpPr/>
          <p:nvPr/>
        </p:nvSpPr>
        <p:spPr>
          <a:xfrm>
            <a:off x="9418320" y="1737360"/>
            <a:ext cx="2286000" cy="1234440"/>
          </a:xfrm>
          <a:prstGeom prst="roundRect">
            <a:avLst>
              <a:gd name="adj" fmla="val 7407"/>
            </a:avLst>
          </a:prstGeom>
          <a:solidFill>
            <a:srgbClr val="12264A">
              <a:alpha val="70000"/>
            </a:srgbClr>
          </a:solidFill>
          <a:ln w="15875">
            <a:solidFill>
              <a:srgbClr val="1ABC9C"/>
            </a:solidFill>
            <a:prstDash val="solid"/>
          </a:ln>
        </p:spPr>
      </p:sp>
      <p:sp>
        <p:nvSpPr>
          <p:cNvPr id="10" name="Text 7"/>
          <p:cNvSpPr txBox="1"/>
          <p:nvPr/>
        </p:nvSpPr>
        <p:spPr>
          <a:xfrm>
            <a:off x="9601200" y="1874520"/>
            <a:ext cx="1920240" cy="548640"/>
          </a:xfrm>
          <a:prstGeom prst="rect">
            <a:avLst/>
          </a:prstGeom>
          <a:noFill/>
          <a:ln/>
        </p:spPr>
        <p:txBody>
          <a:bodyPr wrap="square" lIns="0" tIns="0" rIns="0" bIns="0" rtlCol="0" anchor="ctr"/>
          <a:lstStyle/>
          <a:p>
            <a:pPr indent="0" marL="0">
              <a:buNone/>
            </a:pPr>
            <a:r>
              <a:rPr lang="en-US" sz="2600" b="1" dirty="0">
                <a:solidFill>
                  <a:srgbClr val="1ABC9C"/>
                </a:solidFill>
                <a:latin typeface="Calibri" pitchFamily="34" charset="0"/>
                <a:ea typeface="Calibri" pitchFamily="34" charset="-122"/>
                <a:cs typeface="Calibri" pitchFamily="34" charset="-120"/>
              </a:rPr>
              <a:t>2,000</a:t>
            </a:r>
            <a:endParaRPr lang="en-US" sz="2600" dirty="0"/>
          </a:p>
        </p:txBody>
      </p:sp>
      <p:sp>
        <p:nvSpPr>
          <p:cNvPr id="11" name="Text 8"/>
          <p:cNvSpPr txBox="1"/>
          <p:nvPr/>
        </p:nvSpPr>
        <p:spPr>
          <a:xfrm>
            <a:off x="9601200" y="2468880"/>
            <a:ext cx="1920240" cy="411480"/>
          </a:xfrm>
          <a:prstGeom prst="rect">
            <a:avLst/>
          </a:prstGeom>
          <a:noFill/>
          <a:ln/>
        </p:spPr>
        <p:txBody>
          <a:bodyPr wrap="square" lIns="0" tIns="0" rIns="0" bIns="0" rtlCol="0" anchor="t"/>
          <a:lstStyle/>
          <a:p>
            <a:pPr indent="0" marL="0">
              <a:buNone/>
            </a:pPr>
            <a:r>
              <a:rPr lang="en-US" sz="1200" dirty="0">
                <a:solidFill>
                  <a:srgbClr val="D6E2F3"/>
                </a:solidFill>
                <a:latin typeface="Calibri" pitchFamily="34" charset="0"/>
                <a:ea typeface="Calibri" pitchFamily="34" charset="-122"/>
                <a:cs typeface="Calibri" pitchFamily="34" charset="-120"/>
              </a:rPr>
              <a:t>beds across 400 rooms</a:t>
            </a:r>
            <a:endParaRPr lang="en-US" sz="1200" dirty="0"/>
          </a:p>
        </p:txBody>
      </p:sp>
      <p:sp>
        <p:nvSpPr>
          <p:cNvPr id="12" name="Text 9"/>
          <p:cNvSpPr txBox="1"/>
          <p:nvPr/>
        </p:nvSpPr>
        <p:spPr>
          <a:xfrm>
            <a:off x="6949440" y="3291840"/>
            <a:ext cx="4754880" cy="1828800"/>
          </a:xfrm>
          <a:prstGeom prst="rect">
            <a:avLst/>
          </a:prstGeom>
          <a:noFill/>
          <a:ln/>
        </p:spPr>
        <p:txBody>
          <a:bodyPr wrap="square" lIns="0" tIns="0" rIns="0" bIns="0" rtlCol="0" anchor="t"/>
          <a:lstStyle/>
          <a:p>
            <a:pPr indent="0" marL="0">
              <a:buNone/>
            </a:pPr>
            <a:r>
              <a:rPr lang="en-US" sz="1400" dirty="0">
                <a:solidFill>
                  <a:srgbClr val="D6E2F3"/>
                </a:solidFill>
                <a:latin typeface="Calibri" pitchFamily="34" charset="0"/>
                <a:ea typeface="Calibri" pitchFamily="34" charset="-122"/>
                <a:cs typeface="Calibri" pitchFamily="34" charset="-120"/>
              </a:rPr>
              <a:t>Every bed is recorded as available, so occupancy cannot be measured. The 200 equipment items across 10 types have no usage data, so utilisation is also unknown.</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A33"/>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F7BFF"/>
          </a:solidFill>
          <a:ln w="12700">
            <a:solidFill>
              <a:srgbClr val="2F7BFF"/>
            </a:solidFill>
            <a:prstDash val="solid"/>
          </a:ln>
        </p:spPr>
      </p:sp>
      <p:sp>
        <p:nvSpPr>
          <p:cNvPr id="3" name="Text 1"/>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100" kern="0" dirty="0">
                <a:solidFill>
                  <a:srgbClr val="1ABC9C"/>
                </a:solidFill>
                <a:latin typeface="Calibri" pitchFamily="34" charset="0"/>
                <a:ea typeface="Calibri" pitchFamily="34" charset="-122"/>
                <a:cs typeface="Calibri" pitchFamily="34" charset="-120"/>
              </a:rPr>
              <a:t>PATIENT EXPERIENCE</a:t>
            </a:r>
            <a:endParaRPr lang="en-US" sz="1100" dirty="0"/>
          </a:p>
        </p:txBody>
      </p:sp>
      <p:sp>
        <p:nvSpPr>
          <p:cNvPr id="4" name="Text 2"/>
          <p:cNvSpPr txBox="1"/>
          <p:nvPr/>
        </p:nvSpPr>
        <p:spPr>
          <a:xfrm>
            <a:off x="548640" y="594360"/>
            <a:ext cx="11064240" cy="822960"/>
          </a:xfrm>
          <a:prstGeom prst="rect">
            <a:avLst/>
          </a:prstGeom>
          <a:noFill/>
          <a:ln/>
        </p:spPr>
        <p:txBody>
          <a:bodyPr wrap="square" lIns="0" tIns="0" rIns="0" bIns="0" rtlCol="0" anchor="t"/>
          <a:lstStyle/>
          <a:p>
            <a:pPr indent="0" marL="0">
              <a:buNone/>
            </a:pPr>
            <a:r>
              <a:rPr lang="en-US" sz="2800" b="1" dirty="0">
                <a:solidFill>
                  <a:srgbClr val="FFFFFF"/>
                </a:solidFill>
                <a:latin typeface="Calibri" pitchFamily="34" charset="0"/>
                <a:ea typeface="Calibri" pitchFamily="34" charset="-122"/>
                <a:cs typeface="Calibri" pitchFamily="34" charset="-120"/>
              </a:rPr>
              <a:t>Four in ten patient responses are complaints</a:t>
            </a:r>
            <a:endParaRPr lang="en-US" sz="2800" dirty="0"/>
          </a:p>
        </p:txBody>
      </p:sp>
      <p:graphicFrame>
        <p:nvGraphicFramePr>
          <p:cNvPr id="5" name="Chart 0" descr=""/>
          <p:cNvGraphicFramePr/>
          <p:nvPr/>
        </p:nvGraphicFramePr>
        <p:xfrm>
          <a:off x="548640" y="1737360"/>
          <a:ext cx="6035040" cy="40233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949440" y="1737360"/>
            <a:ext cx="2286000" cy="1234440"/>
          </a:xfrm>
          <a:prstGeom prst="roundRect">
            <a:avLst>
              <a:gd name="adj" fmla="val 7407"/>
            </a:avLst>
          </a:prstGeom>
          <a:solidFill>
            <a:srgbClr val="12264A">
              <a:alpha val="70000"/>
            </a:srgbClr>
          </a:solidFill>
          <a:ln w="15875">
            <a:solidFill>
              <a:srgbClr val="F5A623"/>
            </a:solidFill>
            <a:prstDash val="solid"/>
          </a:ln>
        </p:spPr>
      </p:sp>
      <p:sp>
        <p:nvSpPr>
          <p:cNvPr id="7" name="Text 4"/>
          <p:cNvSpPr txBox="1"/>
          <p:nvPr/>
        </p:nvSpPr>
        <p:spPr>
          <a:xfrm>
            <a:off x="7132320" y="1874520"/>
            <a:ext cx="1920240" cy="548640"/>
          </a:xfrm>
          <a:prstGeom prst="rect">
            <a:avLst/>
          </a:prstGeom>
          <a:noFill/>
          <a:ln/>
        </p:spPr>
        <p:txBody>
          <a:bodyPr wrap="square" lIns="0" tIns="0" rIns="0" bIns="0" rtlCol="0" anchor="ctr"/>
          <a:lstStyle/>
          <a:p>
            <a:pPr indent="0" marL="0">
              <a:buNone/>
            </a:pPr>
            <a:r>
              <a:rPr lang="en-US" sz="2600" b="1" dirty="0">
                <a:solidFill>
                  <a:srgbClr val="F5A623"/>
                </a:solidFill>
                <a:latin typeface="Calibri" pitchFamily="34" charset="0"/>
                <a:ea typeface="Calibri" pitchFamily="34" charset="-122"/>
                <a:cs typeface="Calibri" pitchFamily="34" charset="-120"/>
              </a:rPr>
              <a:t>2.99</a:t>
            </a:r>
            <a:endParaRPr lang="en-US" sz="2600" dirty="0"/>
          </a:p>
        </p:txBody>
      </p:sp>
      <p:sp>
        <p:nvSpPr>
          <p:cNvPr id="8" name="Text 5"/>
          <p:cNvSpPr txBox="1"/>
          <p:nvPr/>
        </p:nvSpPr>
        <p:spPr>
          <a:xfrm>
            <a:off x="7132320" y="2468880"/>
            <a:ext cx="1920240" cy="411480"/>
          </a:xfrm>
          <a:prstGeom prst="rect">
            <a:avLst/>
          </a:prstGeom>
          <a:noFill/>
          <a:ln/>
        </p:spPr>
        <p:txBody>
          <a:bodyPr wrap="square" lIns="0" tIns="0" rIns="0" bIns="0" rtlCol="0" anchor="t"/>
          <a:lstStyle/>
          <a:p>
            <a:pPr indent="0" marL="0">
              <a:buNone/>
            </a:pPr>
            <a:r>
              <a:rPr lang="en-US" sz="1200" dirty="0">
                <a:solidFill>
                  <a:srgbClr val="D6E2F3"/>
                </a:solidFill>
                <a:latin typeface="Calibri" pitchFamily="34" charset="0"/>
                <a:ea typeface="Calibri" pitchFamily="34" charset="-122"/>
                <a:cs typeface="Calibri" pitchFamily="34" charset="-120"/>
              </a:rPr>
              <a:t>average rating out of 5</a:t>
            </a:r>
            <a:endParaRPr lang="en-US" sz="1200" dirty="0"/>
          </a:p>
        </p:txBody>
      </p:sp>
      <p:sp>
        <p:nvSpPr>
          <p:cNvPr id="9" name="Shape 6"/>
          <p:cNvSpPr/>
          <p:nvPr/>
        </p:nvSpPr>
        <p:spPr>
          <a:xfrm>
            <a:off x="9418320" y="1737360"/>
            <a:ext cx="2286000" cy="1234440"/>
          </a:xfrm>
          <a:prstGeom prst="roundRect">
            <a:avLst>
              <a:gd name="adj" fmla="val 7407"/>
            </a:avLst>
          </a:prstGeom>
          <a:solidFill>
            <a:srgbClr val="12264A">
              <a:alpha val="70000"/>
            </a:srgbClr>
          </a:solidFill>
          <a:ln w="15875">
            <a:solidFill>
              <a:srgbClr val="E5484D"/>
            </a:solidFill>
            <a:prstDash val="solid"/>
          </a:ln>
        </p:spPr>
      </p:sp>
      <p:sp>
        <p:nvSpPr>
          <p:cNvPr id="10" name="Text 7"/>
          <p:cNvSpPr txBox="1"/>
          <p:nvPr/>
        </p:nvSpPr>
        <p:spPr>
          <a:xfrm>
            <a:off x="9601200" y="1874520"/>
            <a:ext cx="1920240" cy="548640"/>
          </a:xfrm>
          <a:prstGeom prst="rect">
            <a:avLst/>
          </a:prstGeom>
          <a:noFill/>
          <a:ln/>
        </p:spPr>
        <p:txBody>
          <a:bodyPr wrap="square" lIns="0" tIns="0" rIns="0" bIns="0" rtlCol="0" anchor="ctr"/>
          <a:lstStyle/>
          <a:p>
            <a:pPr indent="0" marL="0">
              <a:buNone/>
            </a:pPr>
            <a:r>
              <a:rPr lang="en-US" sz="2600" b="1" dirty="0">
                <a:solidFill>
                  <a:srgbClr val="E5484D"/>
                </a:solidFill>
                <a:latin typeface="Calibri" pitchFamily="34" charset="0"/>
                <a:ea typeface="Calibri" pitchFamily="34" charset="-122"/>
                <a:cs typeface="Calibri" pitchFamily="34" charset="-120"/>
              </a:rPr>
              <a:t>40.4%</a:t>
            </a:r>
            <a:endParaRPr lang="en-US" sz="2600" dirty="0"/>
          </a:p>
        </p:txBody>
      </p:sp>
      <p:sp>
        <p:nvSpPr>
          <p:cNvPr id="11" name="Text 8"/>
          <p:cNvSpPr txBox="1"/>
          <p:nvPr/>
        </p:nvSpPr>
        <p:spPr>
          <a:xfrm>
            <a:off x="9601200" y="2468880"/>
            <a:ext cx="1920240" cy="411480"/>
          </a:xfrm>
          <a:prstGeom prst="rect">
            <a:avLst/>
          </a:prstGeom>
          <a:noFill/>
          <a:ln/>
        </p:spPr>
        <p:txBody>
          <a:bodyPr wrap="square" lIns="0" tIns="0" rIns="0" bIns="0" rtlCol="0" anchor="t"/>
          <a:lstStyle/>
          <a:p>
            <a:pPr indent="0" marL="0">
              <a:buNone/>
            </a:pPr>
            <a:r>
              <a:rPr lang="en-US" sz="1200" dirty="0">
                <a:solidFill>
                  <a:srgbClr val="D6E2F3"/>
                </a:solidFill>
                <a:latin typeface="Calibri" pitchFamily="34" charset="0"/>
                <a:ea typeface="Calibri" pitchFamily="34" charset="-122"/>
                <a:cs typeface="Calibri" pitchFamily="34" charset="-120"/>
              </a:rPr>
              <a:t>rated 1 or 2 (8,518 responses)</a:t>
            </a:r>
            <a:endParaRPr lang="en-US" sz="1200" dirty="0"/>
          </a:p>
        </p:txBody>
      </p:sp>
      <p:sp>
        <p:nvSpPr>
          <p:cNvPr id="12" name="Text 9"/>
          <p:cNvSpPr txBox="1"/>
          <p:nvPr/>
        </p:nvSpPr>
        <p:spPr>
          <a:xfrm>
            <a:off x="6949440" y="3291840"/>
            <a:ext cx="4754880" cy="1828800"/>
          </a:xfrm>
          <a:prstGeom prst="rect">
            <a:avLst/>
          </a:prstGeom>
          <a:noFill/>
          <a:ln/>
        </p:spPr>
        <p:txBody>
          <a:bodyPr wrap="square" lIns="0" tIns="0" rIns="0" bIns="0" rtlCol="0" anchor="t"/>
          <a:lstStyle/>
          <a:p>
            <a:pPr indent="0" marL="0">
              <a:buNone/>
            </a:pPr>
            <a:r>
              <a:rPr lang="en-US" sz="1400" dirty="0">
                <a:solidFill>
                  <a:srgbClr val="D6E2F3"/>
                </a:solidFill>
                <a:latin typeface="Calibri" pitchFamily="34" charset="0"/>
                <a:ea typeface="Calibri" pitchFamily="34" charset="-122"/>
                <a:cs typeface="Calibri" pitchFamily="34" charset="-120"/>
              </a:rPr>
              <a:t>Only 1,756 responses link to a facility, so facility rankings use that subset. HF011 has the highest average at 3.19.</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A33"/>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F7BFF"/>
          </a:solidFill>
          <a:ln w="12700">
            <a:solidFill>
              <a:srgbClr val="2F7BFF"/>
            </a:solidFill>
            <a:prstDash val="solid"/>
          </a:ln>
        </p:spPr>
      </p:sp>
      <p:sp>
        <p:nvSpPr>
          <p:cNvPr id="3" name="Text 1"/>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100" kern="0" dirty="0">
                <a:solidFill>
                  <a:srgbClr val="1ABC9C"/>
                </a:solidFill>
                <a:latin typeface="Calibri" pitchFamily="34" charset="0"/>
                <a:ea typeface="Calibri" pitchFamily="34" charset="-122"/>
                <a:cs typeface="Calibri" pitchFamily="34" charset="-120"/>
              </a:rPr>
              <a:t>RECOMMENDATIONS</a:t>
            </a:r>
            <a:endParaRPr lang="en-US" sz="1100" dirty="0"/>
          </a:p>
        </p:txBody>
      </p:sp>
      <p:sp>
        <p:nvSpPr>
          <p:cNvPr id="4" name="Text 2"/>
          <p:cNvSpPr txBox="1"/>
          <p:nvPr/>
        </p:nvSpPr>
        <p:spPr>
          <a:xfrm>
            <a:off x="548640" y="594360"/>
            <a:ext cx="11064240" cy="822960"/>
          </a:xfrm>
          <a:prstGeom prst="rect">
            <a:avLst/>
          </a:prstGeom>
          <a:noFill/>
          <a:ln/>
        </p:spPr>
        <p:txBody>
          <a:bodyPr wrap="square" lIns="0" tIns="0" rIns="0" bIns="0" rtlCol="0" anchor="t"/>
          <a:lstStyle/>
          <a:p>
            <a:pPr indent="0" marL="0">
              <a:buNone/>
            </a:pPr>
            <a:r>
              <a:rPr lang="en-US" sz="2800" b="1" dirty="0">
                <a:solidFill>
                  <a:srgbClr val="FFFFFF"/>
                </a:solidFill>
                <a:latin typeface="Calibri" pitchFamily="34" charset="0"/>
                <a:ea typeface="Calibri" pitchFamily="34" charset="-122"/>
                <a:cs typeface="Calibri" pitchFamily="34" charset="-120"/>
              </a:rPr>
              <a:t>Five actions to close the gaps</a:t>
            </a:r>
            <a:endParaRPr lang="en-US" sz="2800" dirty="0"/>
          </a:p>
        </p:txBody>
      </p:sp>
      <p:sp>
        <p:nvSpPr>
          <p:cNvPr id="5" name="Shape 3"/>
          <p:cNvSpPr/>
          <p:nvPr/>
        </p:nvSpPr>
        <p:spPr>
          <a:xfrm>
            <a:off x="548640" y="1764792"/>
            <a:ext cx="457200" cy="457200"/>
          </a:xfrm>
          <a:prstGeom prst="ellipse">
            <a:avLst/>
          </a:prstGeom>
          <a:solidFill>
            <a:srgbClr val="2F7BFF"/>
          </a:solidFill>
          <a:ln w="12700">
            <a:solidFill>
              <a:srgbClr val="2F7BFF"/>
            </a:solidFill>
            <a:prstDash val="solid"/>
          </a:ln>
        </p:spPr>
      </p:sp>
      <p:sp>
        <p:nvSpPr>
          <p:cNvPr id="6" name="Text 4"/>
          <p:cNvSpPr txBox="1"/>
          <p:nvPr/>
        </p:nvSpPr>
        <p:spPr>
          <a:xfrm>
            <a:off x="548640" y="176479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1234440" y="1691640"/>
            <a:ext cx="10332720" cy="6400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Link every appointment </a:t>
            </a:r>
            <a:pPr indent="0" marL="0">
              <a:buNone/>
            </a:pPr>
            <a:r>
              <a:rPr lang="en-US" sz="1600" dirty="0">
                <a:solidFill>
                  <a:srgbClr val="D6E2F3"/>
                </a:solidFill>
                <a:latin typeface="Calibri" pitchFamily="34" charset="0"/>
                <a:ea typeface="Calibri" pitchFamily="34" charset="-122"/>
                <a:cs typeface="Calibri" pitchFamily="34" charset="-120"/>
              </a:rPr>
              <a:t>to its facility and department, so location and revenue findings cover all 60,000 bills.</a:t>
            </a:r>
            <a:endParaRPr lang="en-US" sz="1600" dirty="0"/>
          </a:p>
        </p:txBody>
      </p:sp>
      <p:sp>
        <p:nvSpPr>
          <p:cNvPr id="8" name="Shape 6"/>
          <p:cNvSpPr/>
          <p:nvPr/>
        </p:nvSpPr>
        <p:spPr>
          <a:xfrm>
            <a:off x="548640" y="2633472"/>
            <a:ext cx="457200" cy="457200"/>
          </a:xfrm>
          <a:prstGeom prst="ellipse">
            <a:avLst/>
          </a:prstGeom>
          <a:solidFill>
            <a:srgbClr val="2F7BFF"/>
          </a:solidFill>
          <a:ln w="12700">
            <a:solidFill>
              <a:srgbClr val="2F7BFF"/>
            </a:solidFill>
            <a:prstDash val="solid"/>
          </a:ln>
        </p:spPr>
      </p:sp>
      <p:sp>
        <p:nvSpPr>
          <p:cNvPr id="9" name="Text 7"/>
          <p:cNvSpPr txBox="1"/>
          <p:nvPr/>
        </p:nvSpPr>
        <p:spPr>
          <a:xfrm>
            <a:off x="548640" y="263347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1234440" y="2560320"/>
            <a:ext cx="10332720" cy="6400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Date every bill </a:t>
            </a:r>
            <a:pPr indent="0" marL="0">
              <a:buNone/>
            </a:pPr>
            <a:r>
              <a:rPr lang="en-US" sz="1600" dirty="0">
                <a:solidFill>
                  <a:srgbClr val="D6E2F3"/>
                </a:solidFill>
                <a:latin typeface="Calibri" pitchFamily="34" charset="0"/>
                <a:ea typeface="Calibri" pitchFamily="34" charset="-122"/>
                <a:cs typeface="Calibri" pitchFamily="34" charset="-120"/>
              </a:rPr>
              <a:t>so revenue can be reported monthly for the full billing base.</a:t>
            </a:r>
            <a:endParaRPr lang="en-US" sz="1600" dirty="0"/>
          </a:p>
        </p:txBody>
      </p:sp>
      <p:sp>
        <p:nvSpPr>
          <p:cNvPr id="11" name="Shape 9"/>
          <p:cNvSpPr/>
          <p:nvPr/>
        </p:nvSpPr>
        <p:spPr>
          <a:xfrm>
            <a:off x="548640" y="3502152"/>
            <a:ext cx="457200" cy="457200"/>
          </a:xfrm>
          <a:prstGeom prst="ellipse">
            <a:avLst/>
          </a:prstGeom>
          <a:solidFill>
            <a:srgbClr val="2F7BFF"/>
          </a:solidFill>
          <a:ln w="12700">
            <a:solidFill>
              <a:srgbClr val="2F7BFF"/>
            </a:solidFill>
            <a:prstDash val="solid"/>
          </a:ln>
        </p:spPr>
      </p:sp>
      <p:sp>
        <p:nvSpPr>
          <p:cNvPr id="12" name="Text 10"/>
          <p:cNvSpPr txBox="1"/>
          <p:nvPr/>
        </p:nvSpPr>
        <p:spPr>
          <a:xfrm>
            <a:off x="548640" y="35021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3" name="Text 11"/>
          <p:cNvSpPr txBox="1"/>
          <p:nvPr/>
        </p:nvSpPr>
        <p:spPr>
          <a:xfrm>
            <a:off x="1234440" y="3429000"/>
            <a:ext cx="10332720" cy="6400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Record occupancy and usage </a:t>
            </a:r>
            <a:pPr indent="0" marL="0">
              <a:buNone/>
            </a:pPr>
            <a:r>
              <a:rPr lang="en-US" sz="1600" dirty="0">
                <a:solidFill>
                  <a:srgbClr val="D6E2F3"/>
                </a:solidFill>
                <a:latin typeface="Calibri" pitchFamily="34" charset="0"/>
                <a:ea typeface="Calibri" pitchFamily="34" charset="-122"/>
                <a:cs typeface="Calibri" pitchFamily="34" charset="-120"/>
              </a:rPr>
              <a:t>for beds and equipment, so utilisation can be measured.</a:t>
            </a:r>
            <a:endParaRPr lang="en-US" sz="1600" dirty="0"/>
          </a:p>
        </p:txBody>
      </p:sp>
      <p:sp>
        <p:nvSpPr>
          <p:cNvPr id="14" name="Shape 12"/>
          <p:cNvSpPr/>
          <p:nvPr/>
        </p:nvSpPr>
        <p:spPr>
          <a:xfrm>
            <a:off x="548640" y="4370832"/>
            <a:ext cx="457200" cy="457200"/>
          </a:xfrm>
          <a:prstGeom prst="ellipse">
            <a:avLst/>
          </a:prstGeom>
          <a:solidFill>
            <a:srgbClr val="2F7BFF"/>
          </a:solidFill>
          <a:ln w="12700">
            <a:solidFill>
              <a:srgbClr val="2F7BFF"/>
            </a:solidFill>
            <a:prstDash val="solid"/>
          </a:ln>
        </p:spPr>
      </p:sp>
      <p:sp>
        <p:nvSpPr>
          <p:cNvPr id="15" name="Text 13"/>
          <p:cNvSpPr txBox="1"/>
          <p:nvPr/>
        </p:nvSpPr>
        <p:spPr>
          <a:xfrm>
            <a:off x="548640" y="43708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6" name="Text 14"/>
          <p:cNvSpPr txBox="1"/>
          <p:nvPr/>
        </p:nvSpPr>
        <p:spPr>
          <a:xfrm>
            <a:off x="1234440" y="4297680"/>
            <a:ext cx="10332720" cy="6400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Review complaints </a:t>
            </a:r>
            <a:pPr indent="0" marL="0">
              <a:buNone/>
            </a:pPr>
            <a:r>
              <a:rPr lang="en-US" sz="1600" dirty="0">
                <a:solidFill>
                  <a:srgbClr val="D6E2F3"/>
                </a:solidFill>
                <a:latin typeface="Calibri" pitchFamily="34" charset="0"/>
                <a:ea typeface="Calibri" pitchFamily="34" charset="-122"/>
                <a:cs typeface="Calibri" pitchFamily="34" charset="-120"/>
              </a:rPr>
              <a:t>behind the 40.4% of responses rated 1 or 2, starting with the lowest-rated facilities.</a:t>
            </a:r>
            <a:endParaRPr lang="en-US" sz="1600" dirty="0"/>
          </a:p>
        </p:txBody>
      </p:sp>
      <p:sp>
        <p:nvSpPr>
          <p:cNvPr id="17" name="Shape 15"/>
          <p:cNvSpPr/>
          <p:nvPr/>
        </p:nvSpPr>
        <p:spPr>
          <a:xfrm>
            <a:off x="548640" y="5239512"/>
            <a:ext cx="457200" cy="457200"/>
          </a:xfrm>
          <a:prstGeom prst="ellipse">
            <a:avLst/>
          </a:prstGeom>
          <a:solidFill>
            <a:srgbClr val="2F7BFF"/>
          </a:solidFill>
          <a:ln w="12700">
            <a:solidFill>
              <a:srgbClr val="2F7BFF"/>
            </a:solidFill>
            <a:prstDash val="solid"/>
          </a:ln>
        </p:spPr>
      </p:sp>
      <p:sp>
        <p:nvSpPr>
          <p:cNvPr id="18" name="Text 16"/>
          <p:cNvSpPr txBox="1"/>
          <p:nvPr/>
        </p:nvSpPr>
        <p:spPr>
          <a:xfrm>
            <a:off x="548640" y="523951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9" name="Text 17"/>
          <p:cNvSpPr txBox="1"/>
          <p:nvPr/>
        </p:nvSpPr>
        <p:spPr>
          <a:xfrm>
            <a:off x="1234440" y="5166360"/>
            <a:ext cx="10332720" cy="6400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Record referrals, tests, prescriptions and admissions </a:t>
            </a:r>
            <a:pPr indent="0" marL="0">
              <a:buNone/>
            </a:pPr>
            <a:r>
              <a:rPr lang="en-US" sz="1600" dirty="0">
                <a:solidFill>
                  <a:srgbClr val="D6E2F3"/>
                </a:solidFill>
                <a:latin typeface="Calibri" pitchFamily="34" charset="0"/>
                <a:ea typeface="Calibri" pitchFamily="34" charset="-122"/>
                <a:cs typeface="Calibri" pitchFamily="34" charset="-120"/>
              </a:rPr>
              <a:t>so the clinical picture is complete.</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A33"/>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F7BFF"/>
          </a:solidFill>
          <a:ln w="12700">
            <a:solidFill>
              <a:srgbClr val="2F7BFF"/>
            </a:solidFill>
            <a:prstDash val="solid"/>
          </a:ln>
        </p:spPr>
      </p:sp>
      <p:sp>
        <p:nvSpPr>
          <p:cNvPr id="3" name="Text 1"/>
          <p:cNvSpPr txBox="1"/>
          <p:nvPr/>
        </p:nvSpPr>
        <p:spPr>
          <a:xfrm>
            <a:off x="548640" y="548640"/>
            <a:ext cx="10972800" cy="73152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Conclusion</a:t>
            </a:r>
            <a:endParaRPr lang="en-US" sz="3000" dirty="0"/>
          </a:p>
        </p:txBody>
      </p:sp>
      <p:sp>
        <p:nvSpPr>
          <p:cNvPr id="4" name="Text 2"/>
          <p:cNvSpPr txBox="1"/>
          <p:nvPr/>
        </p:nvSpPr>
        <p:spPr>
          <a:xfrm>
            <a:off x="548640" y="1554480"/>
            <a:ext cx="10972800" cy="292608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D6E2F3"/>
                </a:solidFill>
                <a:latin typeface="Calibri" pitchFamily="34" charset="0"/>
                <a:ea typeface="Calibri" pitchFamily="34" charset="-122"/>
                <a:cs typeface="Calibri" pitchFamily="34" charset="-120"/>
              </a:rPr>
              <a:t>The core operations and patient records are complete and checked.</a:t>
            </a:r>
            <a:endParaRPr lang="en-US" sz="1800" dirty="0"/>
          </a:p>
          <a:p>
            <a:pPr marL="342900" indent="-342900">
              <a:spcAft>
                <a:spcPts val="1000"/>
              </a:spcAft>
              <a:buSzPct val="100000"/>
              <a:buChar char="•"/>
            </a:pPr>
            <a:r>
              <a:rPr lang="en-US" sz="1800" dirty="0">
                <a:solidFill>
                  <a:srgbClr val="D6E2F3"/>
                </a:solidFill>
                <a:latin typeface="Calibri" pitchFamily="34" charset="0"/>
                <a:ea typeface="Calibri" pitchFamily="34" charset="-122"/>
                <a:cs typeface="Calibri" pitchFamily="34" charset="-120"/>
              </a:rPr>
              <a:t>Revenue and location findings are strong on the matched subset, and their limit is clearly stated.</a:t>
            </a:r>
            <a:endParaRPr lang="en-US" sz="1800" dirty="0"/>
          </a:p>
          <a:p>
            <a:pPr marL="342900" indent="-342900">
              <a:spcAft>
                <a:spcPts val="1000"/>
              </a:spcAft>
              <a:buSzPct val="100000"/>
              <a:buChar char="•"/>
            </a:pPr>
            <a:r>
              <a:rPr lang="en-US" sz="1800" dirty="0">
                <a:solidFill>
                  <a:srgbClr val="D6E2F3"/>
                </a:solidFill>
                <a:latin typeface="Calibri" pitchFamily="34" charset="0"/>
                <a:ea typeface="Calibri" pitchFamily="34" charset="-122"/>
                <a:cs typeface="Calibri" pitchFamily="34" charset="-120"/>
              </a:rPr>
              <a:t>Complaints and missing data are the priorities: linking appointments and recording complaints would give the biggest gain.</a:t>
            </a:r>
            <a:endParaRPr lang="en-US" sz="1800" dirty="0"/>
          </a:p>
        </p:txBody>
      </p:sp>
      <p:sp>
        <p:nvSpPr>
          <p:cNvPr id="5" name="Text 3"/>
          <p:cNvSpPr txBox="1"/>
          <p:nvPr/>
        </p:nvSpPr>
        <p:spPr>
          <a:xfrm>
            <a:off x="548640" y="5120640"/>
            <a:ext cx="10972800" cy="457200"/>
          </a:xfrm>
          <a:prstGeom prst="rect">
            <a:avLst/>
          </a:prstGeom>
          <a:noFill/>
          <a:ln/>
        </p:spPr>
        <p:txBody>
          <a:bodyPr wrap="square" lIns="0" tIns="0" rIns="0" bIns="0" rtlCol="0" anchor="ctr"/>
          <a:lstStyle/>
          <a:p>
            <a:pPr indent="0" marL="0">
              <a:buNone/>
            </a:pPr>
            <a:r>
              <a:rPr lang="en-US" sz="1600" i="1" dirty="0">
                <a:solidFill>
                  <a:srgbClr val="1ABC9C"/>
                </a:solidFill>
                <a:latin typeface="Calibri" pitchFamily="34" charset="0"/>
                <a:ea typeface="Calibri" pitchFamily="34" charset="-122"/>
                <a:cs typeface="Calibri" pitchFamily="34" charset="-120"/>
              </a:rPr>
              <a:t>Questions and discussion</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HealthConnect Rwanda: Business Insights</dc:title>
  <dc:subject>PptxGenJS Presentation</dc:subject>
  <dc:creator>PptxGenJS</dc:creator>
  <cp:lastModifiedBy>PptxGenJS</cp:lastModifiedBy>
  <cp:revision>1</cp:revision>
  <dcterms:created xsi:type="dcterms:W3CDTF">2026-10-25T21:14:43Z</dcterms:created>
  <dcterms:modified xsi:type="dcterms:W3CDTF">2026-10-25T21:14:43Z</dcterms:modified>
</cp:coreProperties>
</file>