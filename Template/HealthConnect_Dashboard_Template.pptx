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140"/>
          </a:solidFill>
          <a:ln w="12700">
            <a:solidFill>
              <a:srgbClr val="0E21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2F7BFF"/>
          </a:solidFill>
          <a:ln w="12700">
            <a:solidFill>
              <a:srgbClr val="2F7B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0040" y="1097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Rwanda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5486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  |  Headline performance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109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| Portfolio | Access | Experience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92640" y="338328"/>
            <a:ext cx="2194560" cy="566928"/>
          </a:xfrm>
          <a:prstGeom prst="rect">
            <a:avLst/>
          </a:prstGeom>
          <a:solidFill>
            <a:srgbClr val="17335E">
              <a:alpha val="80000"/>
            </a:srgbClr>
          </a:solidFill>
          <a:ln w="9525">
            <a:solidFill>
              <a:srgbClr val="3C6F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09728"/>
            <a:ext cx="548640" cy="795528"/>
          </a:xfrm>
          <a:prstGeom prst="rect">
            <a:avLst/>
          </a:prstGeom>
          <a:solidFill>
            <a:srgbClr val="1D4080">
              <a:alpha val="90000"/>
            </a:srgbClr>
          </a:solidFill>
          <a:ln w="9525">
            <a:solidFill>
              <a:srgbClr val="3C6F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02368" y="438912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49840" y="438912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97312" y="438912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44784" y="438912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92256" y="438912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539728" y="438912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02368" y="640080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49840" y="640080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97312" y="640080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44784" y="640080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92256" y="640080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39728" y="640080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88752" y="201168"/>
            <a:ext cx="402336" cy="146304"/>
          </a:xfrm>
          <a:prstGeom prst="rect">
            <a:avLst/>
          </a:prstGeom>
          <a:solidFill>
            <a:srgbClr val="7FB8FF">
              <a:alpha val="9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1097280"/>
            <a:ext cx="1463040" cy="4754880"/>
          </a:xfrm>
          <a:prstGeom prst="roundRect">
            <a:avLst>
              <a:gd name="adj" fmla="val 7500"/>
            </a:avLst>
          </a:prstGeom>
          <a:solidFill>
            <a:srgbClr val="0E2140">
              <a:alpha val="60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0040" y="1188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20040" y="1600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187452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2264A">
              <a:alpha val="70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1480" y="18745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20040" y="2560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283464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2264A">
              <a:alpha val="70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11480" y="28346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320040" y="35204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79476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2264A">
              <a:alpha val="70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11480" y="3794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810512" y="1097280"/>
            <a:ext cx="1592580" cy="1005840"/>
          </a:xfrm>
          <a:prstGeom prst="roundRect">
            <a:avLst>
              <a:gd name="adj" fmla="val 9091"/>
            </a:avLst>
          </a:prstGeom>
          <a:solidFill>
            <a:srgbClr val="2F7BFF">
              <a:alpha val="45000"/>
            </a:srgbClr>
          </a:solidFill>
          <a:ln w="15875">
            <a:solidFill>
              <a:srgbClr val="2F7BFF">
                <a:alpha val="9000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947672" y="1188720"/>
            <a:ext cx="1318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Patients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947672" y="1508760"/>
            <a:ext cx="1318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00,000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3531108" y="1097280"/>
            <a:ext cx="1592580" cy="1005840"/>
          </a:xfrm>
          <a:prstGeom prst="roundRect">
            <a:avLst>
              <a:gd name="adj" fmla="val 9091"/>
            </a:avLst>
          </a:prstGeom>
          <a:solidFill>
            <a:srgbClr val="7B4DFF">
              <a:alpha val="45000"/>
            </a:srgbClr>
          </a:solidFill>
          <a:ln w="15875">
            <a:solidFill>
              <a:srgbClr val="7B4DFF">
                <a:alpha val="9000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668268" y="1188720"/>
            <a:ext cx="1318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Appointments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668268" y="1508760"/>
            <a:ext cx="1318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00,000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5251704" y="1097280"/>
            <a:ext cx="1592580" cy="1005840"/>
          </a:xfrm>
          <a:prstGeom prst="roundRect">
            <a:avLst>
              <a:gd name="adj" fmla="val 9091"/>
            </a:avLst>
          </a:prstGeom>
          <a:solidFill>
            <a:srgbClr val="1ABC9C">
              <a:alpha val="45000"/>
            </a:srgbClr>
          </a:solidFill>
          <a:ln w="15875">
            <a:solidFill>
              <a:srgbClr val="1ABC9C">
                <a:alpha val="9000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388864" y="1188720"/>
            <a:ext cx="1318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Billed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388864" y="1508760"/>
            <a:ext cx="1318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00,000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6972300" y="1097280"/>
            <a:ext cx="1592580" cy="1005840"/>
          </a:xfrm>
          <a:prstGeom prst="roundRect">
            <a:avLst>
              <a:gd name="adj" fmla="val 9091"/>
            </a:avLst>
          </a:prstGeom>
          <a:solidFill>
            <a:srgbClr val="F5A623">
              <a:alpha val="45000"/>
            </a:srgbClr>
          </a:solidFill>
          <a:ln w="15875">
            <a:solidFill>
              <a:srgbClr val="F5A623">
                <a:alpha val="9000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109460" y="1188720"/>
            <a:ext cx="1318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Bill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7109460" y="1508760"/>
            <a:ext cx="1318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00,000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8692896" y="1097280"/>
            <a:ext cx="1592580" cy="1005840"/>
          </a:xfrm>
          <a:prstGeom prst="roundRect">
            <a:avLst>
              <a:gd name="adj" fmla="val 9091"/>
            </a:avLst>
          </a:prstGeom>
          <a:solidFill>
            <a:srgbClr val="E5484D">
              <a:alpha val="45000"/>
            </a:srgbClr>
          </a:solidFill>
          <a:ln w="15875">
            <a:solidFill>
              <a:srgbClr val="E5484D">
                <a:alpha val="9000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830056" y="1188720"/>
            <a:ext cx="1318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Facilities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8830056" y="1508760"/>
            <a:ext cx="1318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00,000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10413492" y="1097280"/>
            <a:ext cx="1592580" cy="1005840"/>
          </a:xfrm>
          <a:prstGeom prst="roundRect">
            <a:avLst>
              <a:gd name="adj" fmla="val 9091"/>
            </a:avLst>
          </a:prstGeom>
          <a:solidFill>
            <a:srgbClr val="2F7BFF">
              <a:alpha val="45000"/>
            </a:srgbClr>
          </a:solidFill>
          <a:ln w="15875">
            <a:solidFill>
              <a:srgbClr val="2F7BFF">
                <a:alpha val="9000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550652" y="1188720"/>
            <a:ext cx="1318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Satisfaction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10550652" y="1508760"/>
            <a:ext cx="1318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00,000</a:t>
            </a:r>
            <a:endParaRPr lang="en-US" sz="2200" dirty="0"/>
          </a:p>
        </p:txBody>
      </p:sp>
      <p:sp>
        <p:nvSpPr>
          <p:cNvPr id="51" name="Shape 49"/>
          <p:cNvSpPr/>
          <p:nvPr/>
        </p:nvSpPr>
        <p:spPr>
          <a:xfrm>
            <a:off x="1810512" y="2240280"/>
            <a:ext cx="3307080" cy="1737360"/>
          </a:xfrm>
          <a:prstGeom prst="roundRect">
            <a:avLst>
              <a:gd name="adj" fmla="val 6316"/>
            </a:avLst>
          </a:prstGeom>
          <a:solidFill>
            <a:srgbClr val="12264A">
              <a:alpha val="55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993392" y="2331720"/>
            <a:ext cx="294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Revenue by Month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1993392" y="269748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area: add visual here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254752" y="2240280"/>
            <a:ext cx="3307080" cy="1737360"/>
          </a:xfrm>
          <a:prstGeom prst="roundRect">
            <a:avLst>
              <a:gd name="adj" fmla="val 6316"/>
            </a:avLst>
          </a:prstGeom>
          <a:solidFill>
            <a:srgbClr val="12264A">
              <a:alpha val="55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437632" y="2331720"/>
            <a:ext cx="294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by Method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5437632" y="269748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area: add visual here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698992" y="2240280"/>
            <a:ext cx="3307080" cy="1737360"/>
          </a:xfrm>
          <a:prstGeom prst="roundRect">
            <a:avLst>
              <a:gd name="adj" fmla="val 6316"/>
            </a:avLst>
          </a:prstGeom>
          <a:solidFill>
            <a:srgbClr val="12264A">
              <a:alpha val="55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881872" y="2331720"/>
            <a:ext cx="294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by Department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8881872" y="269748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area: add visual here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810512" y="4114800"/>
            <a:ext cx="3307080" cy="1737360"/>
          </a:xfrm>
          <a:prstGeom prst="roundRect">
            <a:avLst>
              <a:gd name="adj" fmla="val 6316"/>
            </a:avLst>
          </a:prstGeom>
          <a:solidFill>
            <a:srgbClr val="12264A">
              <a:alpha val="55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1993392" y="4206240"/>
            <a:ext cx="294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Ratings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1993392" y="457200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area: add visual here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254752" y="4114800"/>
            <a:ext cx="3307080" cy="1737360"/>
          </a:xfrm>
          <a:prstGeom prst="roundRect">
            <a:avLst>
              <a:gd name="adj" fmla="val 6316"/>
            </a:avLst>
          </a:prstGeom>
          <a:solidFill>
            <a:srgbClr val="12264A">
              <a:alpha val="55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437632" y="4206240"/>
            <a:ext cx="294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Distribution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5437632" y="457200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area: add visual here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8698992" y="4114800"/>
            <a:ext cx="3307080" cy="1737360"/>
          </a:xfrm>
          <a:prstGeom prst="roundRect">
            <a:avLst>
              <a:gd name="adj" fmla="val 6316"/>
            </a:avLst>
          </a:prstGeom>
          <a:solidFill>
            <a:srgbClr val="12264A">
              <a:alpha val="55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8881872" y="4206240"/>
            <a:ext cx="294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8881872" y="457200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area: add visual here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182880" y="5989320"/>
            <a:ext cx="11823192" cy="685800"/>
          </a:xfrm>
          <a:prstGeom prst="roundRect">
            <a:avLst>
              <a:gd name="adj" fmla="val 13333"/>
            </a:avLst>
          </a:prstGeom>
          <a:solidFill>
            <a:srgbClr val="0E2140">
              <a:alpha val="60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320040" y="6035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2011680" y="60350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1: add headline finding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5282184" y="60350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2: add headline finding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8552688" y="60350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3: add headline finding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140"/>
          </a:solidFill>
          <a:ln w="12700">
            <a:solidFill>
              <a:srgbClr val="0E21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2F7BFF"/>
          </a:solidFill>
          <a:ln w="12700">
            <a:solidFill>
              <a:srgbClr val="2F7B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0040" y="1097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Rwanda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5486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Analytics  |  Who our patients are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109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| Portfolio | Access | Experience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92640" y="338328"/>
            <a:ext cx="2194560" cy="566928"/>
          </a:xfrm>
          <a:prstGeom prst="rect">
            <a:avLst/>
          </a:prstGeom>
          <a:solidFill>
            <a:srgbClr val="17335E">
              <a:alpha val="80000"/>
            </a:srgbClr>
          </a:solidFill>
          <a:ln w="9525">
            <a:solidFill>
              <a:srgbClr val="3C6F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09728"/>
            <a:ext cx="548640" cy="795528"/>
          </a:xfrm>
          <a:prstGeom prst="rect">
            <a:avLst/>
          </a:prstGeom>
          <a:solidFill>
            <a:srgbClr val="1D4080">
              <a:alpha val="90000"/>
            </a:srgbClr>
          </a:solidFill>
          <a:ln w="9525">
            <a:solidFill>
              <a:srgbClr val="3C6F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02368" y="438912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49840" y="438912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97312" y="438912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44784" y="438912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92256" y="438912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539728" y="438912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02368" y="640080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49840" y="640080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97312" y="640080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44784" y="640080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92256" y="640080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39728" y="640080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88752" y="201168"/>
            <a:ext cx="402336" cy="146304"/>
          </a:xfrm>
          <a:prstGeom prst="rect">
            <a:avLst/>
          </a:prstGeom>
          <a:solidFill>
            <a:srgbClr val="7FB8FF">
              <a:alpha val="9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1097280"/>
            <a:ext cx="1463040" cy="4754880"/>
          </a:xfrm>
          <a:prstGeom prst="roundRect">
            <a:avLst>
              <a:gd name="adj" fmla="val 7500"/>
            </a:avLst>
          </a:prstGeom>
          <a:solidFill>
            <a:srgbClr val="0E2140">
              <a:alpha val="60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0040" y="1188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20040" y="1600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187452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2264A">
              <a:alpha val="70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1480" y="18745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20040" y="2560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283464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2264A">
              <a:alpha val="70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11480" y="28346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320040" y="35204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79476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2264A">
              <a:alpha val="70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11480" y="3794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810512" y="1097280"/>
            <a:ext cx="2452878" cy="1005840"/>
          </a:xfrm>
          <a:prstGeom prst="roundRect">
            <a:avLst>
              <a:gd name="adj" fmla="val 9091"/>
            </a:avLst>
          </a:prstGeom>
          <a:solidFill>
            <a:srgbClr val="2F7BFF">
              <a:alpha val="45000"/>
            </a:srgbClr>
          </a:solidFill>
          <a:ln w="15875">
            <a:solidFill>
              <a:srgbClr val="2F7BFF">
                <a:alpha val="9000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947672" y="1188720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Patients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947672" y="1508760"/>
            <a:ext cx="2178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00,000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4391406" y="1097280"/>
            <a:ext cx="2452878" cy="1005840"/>
          </a:xfrm>
          <a:prstGeom prst="roundRect">
            <a:avLst>
              <a:gd name="adj" fmla="val 9091"/>
            </a:avLst>
          </a:prstGeom>
          <a:solidFill>
            <a:srgbClr val="7B4DFF">
              <a:alpha val="45000"/>
            </a:srgbClr>
          </a:solidFill>
          <a:ln w="15875">
            <a:solidFill>
              <a:srgbClr val="7B4DFF">
                <a:alpha val="9000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28566" y="1188720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With Condition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528566" y="1508760"/>
            <a:ext cx="2178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00,000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6972300" y="1097280"/>
            <a:ext cx="2452878" cy="1005840"/>
          </a:xfrm>
          <a:prstGeom prst="roundRect">
            <a:avLst>
              <a:gd name="adj" fmla="val 9091"/>
            </a:avLst>
          </a:prstGeom>
          <a:solidFill>
            <a:srgbClr val="1ABC9C">
              <a:alpha val="45000"/>
            </a:srgbClr>
          </a:solidFill>
          <a:ln w="15875">
            <a:solidFill>
              <a:srgbClr val="1ABC9C">
                <a:alpha val="9000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109460" y="1188720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7109460" y="1508760"/>
            <a:ext cx="2178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00,000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9553194" y="1097280"/>
            <a:ext cx="2452878" cy="1005840"/>
          </a:xfrm>
          <a:prstGeom prst="roundRect">
            <a:avLst>
              <a:gd name="adj" fmla="val 9091"/>
            </a:avLst>
          </a:prstGeom>
          <a:solidFill>
            <a:srgbClr val="F5A623">
              <a:alpha val="45000"/>
            </a:srgbClr>
          </a:solidFill>
          <a:ln w="15875">
            <a:solidFill>
              <a:srgbClr val="F5A623">
                <a:alpha val="9000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690354" y="1188720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Claims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9690354" y="1508760"/>
            <a:ext cx="2178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00,000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1810512" y="2240280"/>
            <a:ext cx="3307080" cy="1737360"/>
          </a:xfrm>
          <a:prstGeom prst="roundRect">
            <a:avLst>
              <a:gd name="adj" fmla="val 6316"/>
            </a:avLst>
          </a:prstGeom>
          <a:solidFill>
            <a:srgbClr val="12264A">
              <a:alpha val="55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993392" y="2331720"/>
            <a:ext cx="294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Distribution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1993392" y="269748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area: add visual here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254752" y="2240280"/>
            <a:ext cx="3307080" cy="1737360"/>
          </a:xfrm>
          <a:prstGeom prst="roundRect">
            <a:avLst>
              <a:gd name="adj" fmla="val 6316"/>
            </a:avLst>
          </a:prstGeom>
          <a:solidFill>
            <a:srgbClr val="12264A">
              <a:alpha val="55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437632" y="2331720"/>
            <a:ext cx="294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Pyramid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5437632" y="269748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area: add visual here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698992" y="2240280"/>
            <a:ext cx="3307080" cy="1737360"/>
          </a:xfrm>
          <a:prstGeom prst="roundRect">
            <a:avLst>
              <a:gd name="adj" fmla="val 6316"/>
            </a:avLst>
          </a:prstGeom>
          <a:solidFill>
            <a:srgbClr val="12264A">
              <a:alpha val="55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881872" y="2331720"/>
            <a:ext cx="294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by Province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8881872" y="269748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area: add visual here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810512" y="4114800"/>
            <a:ext cx="3307080" cy="1737360"/>
          </a:xfrm>
          <a:prstGeom prst="roundRect">
            <a:avLst>
              <a:gd name="adj" fmla="val 6316"/>
            </a:avLst>
          </a:prstGeom>
          <a:solidFill>
            <a:srgbClr val="12264A">
              <a:alpha val="55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993392" y="4206240"/>
            <a:ext cx="294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Disease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1993392" y="457200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area: add visual here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254752" y="4114800"/>
            <a:ext cx="3307080" cy="1737360"/>
          </a:xfrm>
          <a:prstGeom prst="roundRect">
            <a:avLst>
              <a:gd name="adj" fmla="val 6316"/>
            </a:avLst>
          </a:prstGeom>
          <a:solidFill>
            <a:srgbClr val="12264A">
              <a:alpha val="55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437632" y="4206240"/>
            <a:ext cx="294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Distribution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5437632" y="457200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area: add visual here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8698992" y="4114800"/>
            <a:ext cx="3307080" cy="1737360"/>
          </a:xfrm>
          <a:prstGeom prst="roundRect">
            <a:avLst>
              <a:gd name="adj" fmla="val 6316"/>
            </a:avLst>
          </a:prstGeom>
          <a:solidFill>
            <a:srgbClr val="12264A">
              <a:alpha val="55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881872" y="4206240"/>
            <a:ext cx="294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8881872" y="457200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area: add visual here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82880" y="5989320"/>
            <a:ext cx="11823192" cy="685800"/>
          </a:xfrm>
          <a:prstGeom prst="roundRect">
            <a:avLst>
              <a:gd name="adj" fmla="val 13333"/>
            </a:avLst>
          </a:prstGeom>
          <a:solidFill>
            <a:srgbClr val="0E2140">
              <a:alpha val="60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320040" y="6035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2011680" y="60350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1: add headline finding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5282184" y="60350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2: add headline finding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8552688" y="60350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3: add headline finding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140"/>
          </a:solidFill>
          <a:ln w="12700">
            <a:solidFill>
              <a:srgbClr val="0E21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2F7BFF"/>
          </a:solidFill>
          <a:ln w="12700">
            <a:solidFill>
              <a:srgbClr val="2F7B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0040" y="1097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Rwanda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5486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Analytics  |  Diagnoses and visits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109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| Portfolio | Access | Experience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92640" y="338328"/>
            <a:ext cx="2194560" cy="566928"/>
          </a:xfrm>
          <a:prstGeom prst="rect">
            <a:avLst/>
          </a:prstGeom>
          <a:solidFill>
            <a:srgbClr val="17335E">
              <a:alpha val="80000"/>
            </a:srgbClr>
          </a:solidFill>
          <a:ln w="9525">
            <a:solidFill>
              <a:srgbClr val="3C6F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09728"/>
            <a:ext cx="548640" cy="795528"/>
          </a:xfrm>
          <a:prstGeom prst="rect">
            <a:avLst/>
          </a:prstGeom>
          <a:solidFill>
            <a:srgbClr val="1D4080">
              <a:alpha val="90000"/>
            </a:srgbClr>
          </a:solidFill>
          <a:ln w="9525">
            <a:solidFill>
              <a:srgbClr val="3C6F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02368" y="438912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49840" y="438912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97312" y="438912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44784" y="438912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92256" y="438912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539728" y="438912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02368" y="640080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49840" y="640080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97312" y="640080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44784" y="640080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92256" y="640080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39728" y="640080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88752" y="201168"/>
            <a:ext cx="402336" cy="146304"/>
          </a:xfrm>
          <a:prstGeom prst="rect">
            <a:avLst/>
          </a:prstGeom>
          <a:solidFill>
            <a:srgbClr val="7FB8FF">
              <a:alpha val="9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1097280"/>
            <a:ext cx="1463040" cy="4754880"/>
          </a:xfrm>
          <a:prstGeom prst="roundRect">
            <a:avLst>
              <a:gd name="adj" fmla="val 7500"/>
            </a:avLst>
          </a:prstGeom>
          <a:solidFill>
            <a:srgbClr val="0E2140">
              <a:alpha val="60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0040" y="1188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20040" y="1600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187452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2264A">
              <a:alpha val="70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1480" y="18745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20040" y="2560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283464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2264A">
              <a:alpha val="70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11480" y="28346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320040" y="35204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Type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79476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2264A">
              <a:alpha val="70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11480" y="3794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810512" y="1097280"/>
            <a:ext cx="1936699" cy="1005840"/>
          </a:xfrm>
          <a:prstGeom prst="roundRect">
            <a:avLst>
              <a:gd name="adj" fmla="val 9091"/>
            </a:avLst>
          </a:prstGeom>
          <a:solidFill>
            <a:srgbClr val="2F7BFF">
              <a:alpha val="45000"/>
            </a:srgbClr>
          </a:solidFill>
          <a:ln w="15875">
            <a:solidFill>
              <a:srgbClr val="2F7BFF">
                <a:alpha val="9000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947672" y="1188720"/>
            <a:ext cx="16623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Visits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947672" y="1508760"/>
            <a:ext cx="16623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00,000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3875227" y="1097280"/>
            <a:ext cx="1936699" cy="1005840"/>
          </a:xfrm>
          <a:prstGeom prst="roundRect">
            <a:avLst>
              <a:gd name="adj" fmla="val 9091"/>
            </a:avLst>
          </a:prstGeom>
          <a:solidFill>
            <a:srgbClr val="7B4DFF">
              <a:alpha val="45000"/>
            </a:srgbClr>
          </a:solidFill>
          <a:ln w="15875">
            <a:solidFill>
              <a:srgbClr val="7B4DFF">
                <a:alpha val="9000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012387" y="1188720"/>
            <a:ext cx="16623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Appointments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012387" y="1508760"/>
            <a:ext cx="16623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00,000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5939942" y="1097280"/>
            <a:ext cx="1936699" cy="1005840"/>
          </a:xfrm>
          <a:prstGeom prst="roundRect">
            <a:avLst>
              <a:gd name="adj" fmla="val 9091"/>
            </a:avLst>
          </a:prstGeom>
          <a:solidFill>
            <a:srgbClr val="1ABC9C">
              <a:alpha val="45000"/>
            </a:srgbClr>
          </a:solidFill>
          <a:ln w="15875">
            <a:solidFill>
              <a:srgbClr val="1ABC9C">
                <a:alpha val="9000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077102" y="1188720"/>
            <a:ext cx="16623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Departments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077102" y="1508760"/>
            <a:ext cx="16623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00,000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8004658" y="1097280"/>
            <a:ext cx="1936699" cy="1005840"/>
          </a:xfrm>
          <a:prstGeom prst="roundRect">
            <a:avLst>
              <a:gd name="adj" fmla="val 9091"/>
            </a:avLst>
          </a:prstGeom>
          <a:solidFill>
            <a:srgbClr val="F5A623">
              <a:alpha val="45000"/>
            </a:srgbClr>
          </a:solidFill>
          <a:ln w="15875">
            <a:solidFill>
              <a:srgbClr val="F5A623">
                <a:alpha val="9000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141818" y="1188720"/>
            <a:ext cx="16623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Doctors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8141818" y="1508760"/>
            <a:ext cx="16623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00,000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10069373" y="1097280"/>
            <a:ext cx="1936699" cy="1005840"/>
          </a:xfrm>
          <a:prstGeom prst="roundRect">
            <a:avLst>
              <a:gd name="adj" fmla="val 9091"/>
            </a:avLst>
          </a:prstGeom>
          <a:solidFill>
            <a:srgbClr val="E5484D">
              <a:alpha val="45000"/>
            </a:srgbClr>
          </a:solidFill>
          <a:ln w="15875">
            <a:solidFill>
              <a:srgbClr val="E5484D">
                <a:alpha val="9000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206533" y="1188720"/>
            <a:ext cx="16623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Diagnoses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10206533" y="1508760"/>
            <a:ext cx="16623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00,000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1810512" y="2240280"/>
            <a:ext cx="3307080" cy="1737360"/>
          </a:xfrm>
          <a:prstGeom prst="roundRect">
            <a:avLst>
              <a:gd name="adj" fmla="val 6316"/>
            </a:avLst>
          </a:prstGeom>
          <a:solidFill>
            <a:srgbClr val="12264A">
              <a:alpha val="55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993392" y="2331720"/>
            <a:ext cx="294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by Department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1993392" y="269748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area: add visual here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254752" y="2240280"/>
            <a:ext cx="3307080" cy="1737360"/>
          </a:xfrm>
          <a:prstGeom prst="roundRect">
            <a:avLst>
              <a:gd name="adj" fmla="val 6316"/>
            </a:avLst>
          </a:prstGeom>
          <a:solidFill>
            <a:srgbClr val="12264A">
              <a:alpha val="55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437632" y="2331720"/>
            <a:ext cx="294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Split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5437632" y="269748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area: add visual here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698992" y="2240280"/>
            <a:ext cx="3307080" cy="1737360"/>
          </a:xfrm>
          <a:prstGeom prst="roundRect">
            <a:avLst>
              <a:gd name="adj" fmla="val 6316"/>
            </a:avLst>
          </a:prstGeom>
          <a:solidFill>
            <a:srgbClr val="12264A">
              <a:alpha val="55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881872" y="2331720"/>
            <a:ext cx="294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Visits by Facility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8881872" y="269748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area: add visual here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810512" y="4114800"/>
            <a:ext cx="3307080" cy="1737360"/>
          </a:xfrm>
          <a:prstGeom prst="roundRect">
            <a:avLst>
              <a:gd name="adj" fmla="val 6316"/>
            </a:avLst>
          </a:prstGeom>
          <a:solidFill>
            <a:srgbClr val="12264A">
              <a:alpha val="55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993392" y="4206240"/>
            <a:ext cx="294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Type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1993392" y="457200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area: add visual here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254752" y="4114800"/>
            <a:ext cx="3307080" cy="1737360"/>
          </a:xfrm>
          <a:prstGeom prst="roundRect">
            <a:avLst>
              <a:gd name="adj" fmla="val 6316"/>
            </a:avLst>
          </a:prstGeom>
          <a:solidFill>
            <a:srgbClr val="12264A">
              <a:alpha val="55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437632" y="4206240"/>
            <a:ext cx="294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Analysis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5437632" y="457200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area: add visual here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698992" y="4114800"/>
            <a:ext cx="3307080" cy="1737360"/>
          </a:xfrm>
          <a:prstGeom prst="roundRect">
            <a:avLst>
              <a:gd name="adj" fmla="val 6316"/>
            </a:avLst>
          </a:prstGeom>
          <a:solidFill>
            <a:srgbClr val="12264A">
              <a:alpha val="55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881872" y="4206240"/>
            <a:ext cx="294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8881872" y="457200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area: add visual here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82880" y="5989320"/>
            <a:ext cx="11823192" cy="685800"/>
          </a:xfrm>
          <a:prstGeom prst="roundRect">
            <a:avLst>
              <a:gd name="adj" fmla="val 13333"/>
            </a:avLst>
          </a:prstGeom>
          <a:solidFill>
            <a:srgbClr val="0E2140">
              <a:alpha val="60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320040" y="6035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2011680" y="60350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1: add headline finding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5282184" y="60350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2: add headline finding</a:t>
            </a:r>
            <a:endParaRPr lang="en-US" sz="1000" dirty="0"/>
          </a:p>
        </p:txBody>
      </p:sp>
      <p:sp>
        <p:nvSpPr>
          <p:cNvPr id="70" name="Text 68"/>
          <p:cNvSpPr txBox="1"/>
          <p:nvPr/>
        </p:nvSpPr>
        <p:spPr>
          <a:xfrm>
            <a:off x="8552688" y="60350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3: add headline finding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140"/>
          </a:solidFill>
          <a:ln w="12700">
            <a:solidFill>
              <a:srgbClr val="0E21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2F7BFF"/>
          </a:solidFill>
          <a:ln w="12700">
            <a:solidFill>
              <a:srgbClr val="2F7B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0040" y="1097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Rwanda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5486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  |  Billing, payments and claims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109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| Portfolio | Access | Experience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92640" y="338328"/>
            <a:ext cx="2194560" cy="566928"/>
          </a:xfrm>
          <a:prstGeom prst="rect">
            <a:avLst/>
          </a:prstGeom>
          <a:solidFill>
            <a:srgbClr val="17335E">
              <a:alpha val="80000"/>
            </a:srgbClr>
          </a:solidFill>
          <a:ln w="9525">
            <a:solidFill>
              <a:srgbClr val="3C6F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09728"/>
            <a:ext cx="548640" cy="795528"/>
          </a:xfrm>
          <a:prstGeom prst="rect">
            <a:avLst/>
          </a:prstGeom>
          <a:solidFill>
            <a:srgbClr val="1D4080">
              <a:alpha val="90000"/>
            </a:srgbClr>
          </a:solidFill>
          <a:ln w="9525">
            <a:solidFill>
              <a:srgbClr val="3C6F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02368" y="438912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49840" y="438912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97312" y="438912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44784" y="438912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92256" y="438912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539728" y="438912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02368" y="640080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49840" y="640080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97312" y="640080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44784" y="640080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92256" y="640080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39728" y="640080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88752" y="201168"/>
            <a:ext cx="402336" cy="146304"/>
          </a:xfrm>
          <a:prstGeom prst="rect">
            <a:avLst/>
          </a:prstGeom>
          <a:solidFill>
            <a:srgbClr val="7FB8FF">
              <a:alpha val="9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1097280"/>
            <a:ext cx="1463040" cy="4754880"/>
          </a:xfrm>
          <a:prstGeom prst="roundRect">
            <a:avLst>
              <a:gd name="adj" fmla="val 7500"/>
            </a:avLst>
          </a:prstGeom>
          <a:solidFill>
            <a:srgbClr val="0E2140">
              <a:alpha val="60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0040" y="1188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20040" y="1600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187452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2264A">
              <a:alpha val="70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1480" y="18745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20040" y="2560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283464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2264A">
              <a:alpha val="70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11480" y="28346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320040" y="35204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Status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79476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2264A">
              <a:alpha val="70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11480" y="3794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810512" y="1097280"/>
            <a:ext cx="1936699" cy="1005840"/>
          </a:xfrm>
          <a:prstGeom prst="roundRect">
            <a:avLst>
              <a:gd name="adj" fmla="val 9091"/>
            </a:avLst>
          </a:prstGeom>
          <a:solidFill>
            <a:srgbClr val="2F7BFF">
              <a:alpha val="45000"/>
            </a:srgbClr>
          </a:solidFill>
          <a:ln w="15875">
            <a:solidFill>
              <a:srgbClr val="2F7BFF">
                <a:alpha val="9000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947672" y="1188720"/>
            <a:ext cx="16623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Billed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947672" y="1508760"/>
            <a:ext cx="16623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00,000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3875227" y="1097280"/>
            <a:ext cx="1936699" cy="1005840"/>
          </a:xfrm>
          <a:prstGeom prst="roundRect">
            <a:avLst>
              <a:gd name="adj" fmla="val 9091"/>
            </a:avLst>
          </a:prstGeom>
          <a:solidFill>
            <a:srgbClr val="7B4DFF">
              <a:alpha val="45000"/>
            </a:srgbClr>
          </a:solidFill>
          <a:ln w="15875">
            <a:solidFill>
              <a:srgbClr val="7B4DFF">
                <a:alpha val="9000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012387" y="1188720"/>
            <a:ext cx="16623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Paid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012387" y="1508760"/>
            <a:ext cx="16623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00,000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5939942" y="1097280"/>
            <a:ext cx="1936699" cy="1005840"/>
          </a:xfrm>
          <a:prstGeom prst="roundRect">
            <a:avLst>
              <a:gd name="adj" fmla="val 9091"/>
            </a:avLst>
          </a:prstGeom>
          <a:solidFill>
            <a:srgbClr val="1ABC9C">
              <a:alpha val="45000"/>
            </a:srgbClr>
          </a:solidFill>
          <a:ln w="15875">
            <a:solidFill>
              <a:srgbClr val="1ABC9C">
                <a:alpha val="9000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077102" y="1188720"/>
            <a:ext cx="16623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Balance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077102" y="1508760"/>
            <a:ext cx="16623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00,000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8004658" y="1097280"/>
            <a:ext cx="1936699" cy="1005840"/>
          </a:xfrm>
          <a:prstGeom prst="roundRect">
            <a:avLst>
              <a:gd name="adj" fmla="val 9091"/>
            </a:avLst>
          </a:prstGeom>
          <a:solidFill>
            <a:srgbClr val="F5A623">
              <a:alpha val="45000"/>
            </a:srgbClr>
          </a:solidFill>
          <a:ln w="15875">
            <a:solidFill>
              <a:srgbClr val="F5A623">
                <a:alpha val="9000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141818" y="1188720"/>
            <a:ext cx="16623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Insurance Claims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8141818" y="1508760"/>
            <a:ext cx="16623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00,000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10069373" y="1097280"/>
            <a:ext cx="1936699" cy="1005840"/>
          </a:xfrm>
          <a:prstGeom prst="roundRect">
            <a:avLst>
              <a:gd name="adj" fmla="val 9091"/>
            </a:avLst>
          </a:prstGeom>
          <a:solidFill>
            <a:srgbClr val="E5484D">
              <a:alpha val="45000"/>
            </a:srgbClr>
          </a:solidFill>
          <a:ln w="15875">
            <a:solidFill>
              <a:srgbClr val="E5484D">
                <a:alpha val="9000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206533" y="1188720"/>
            <a:ext cx="16623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(Matched)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10206533" y="1508760"/>
            <a:ext cx="16623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00,000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1810512" y="2240280"/>
            <a:ext cx="3307080" cy="1737360"/>
          </a:xfrm>
          <a:prstGeom prst="roundRect">
            <a:avLst>
              <a:gd name="adj" fmla="val 6316"/>
            </a:avLst>
          </a:prstGeom>
          <a:solidFill>
            <a:srgbClr val="12264A">
              <a:alpha val="55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993392" y="2331720"/>
            <a:ext cx="294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Revenue by Month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1993392" y="269748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area: add visual here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254752" y="2240280"/>
            <a:ext cx="3307080" cy="1737360"/>
          </a:xfrm>
          <a:prstGeom prst="roundRect">
            <a:avLst>
              <a:gd name="adj" fmla="val 6316"/>
            </a:avLst>
          </a:prstGeom>
          <a:solidFill>
            <a:srgbClr val="12264A">
              <a:alpha val="55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437632" y="2331720"/>
            <a:ext cx="294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Facility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5437632" y="269748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area: add visual here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698992" y="2240280"/>
            <a:ext cx="3307080" cy="1737360"/>
          </a:xfrm>
          <a:prstGeom prst="roundRect">
            <a:avLst>
              <a:gd name="adj" fmla="val 6316"/>
            </a:avLst>
          </a:prstGeom>
          <a:solidFill>
            <a:srgbClr val="12264A">
              <a:alpha val="55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881872" y="2331720"/>
            <a:ext cx="294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Department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8881872" y="269748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area: add visual here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810512" y="4114800"/>
            <a:ext cx="3307080" cy="1737360"/>
          </a:xfrm>
          <a:prstGeom prst="roundRect">
            <a:avLst>
              <a:gd name="adj" fmla="val 6316"/>
            </a:avLst>
          </a:prstGeom>
          <a:solidFill>
            <a:srgbClr val="12264A">
              <a:alpha val="55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993392" y="4206240"/>
            <a:ext cx="294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by Provider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1993392" y="457200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area: add visual here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254752" y="4114800"/>
            <a:ext cx="3307080" cy="1737360"/>
          </a:xfrm>
          <a:prstGeom prst="roundRect">
            <a:avLst>
              <a:gd name="adj" fmla="val 6316"/>
            </a:avLst>
          </a:prstGeom>
          <a:solidFill>
            <a:srgbClr val="12264A">
              <a:alpha val="55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437632" y="4206240"/>
            <a:ext cx="294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by Method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5437632" y="457200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area: add visual here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698992" y="4114800"/>
            <a:ext cx="3307080" cy="1737360"/>
          </a:xfrm>
          <a:prstGeom prst="roundRect">
            <a:avLst>
              <a:gd name="adj" fmla="val 6316"/>
            </a:avLst>
          </a:prstGeom>
          <a:solidFill>
            <a:srgbClr val="12264A">
              <a:alpha val="55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881872" y="4206240"/>
            <a:ext cx="294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8881872" y="457200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area: add visual here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82880" y="5989320"/>
            <a:ext cx="11823192" cy="685800"/>
          </a:xfrm>
          <a:prstGeom prst="roundRect">
            <a:avLst>
              <a:gd name="adj" fmla="val 13333"/>
            </a:avLst>
          </a:prstGeom>
          <a:solidFill>
            <a:srgbClr val="0E2140">
              <a:alpha val="60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320040" y="6035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2011680" y="60350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1: add headline finding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5282184" y="60350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2: add headline finding</a:t>
            </a:r>
            <a:endParaRPr lang="en-US" sz="1000" dirty="0"/>
          </a:p>
        </p:txBody>
      </p:sp>
      <p:sp>
        <p:nvSpPr>
          <p:cNvPr id="70" name="Text 68"/>
          <p:cNvSpPr txBox="1"/>
          <p:nvPr/>
        </p:nvSpPr>
        <p:spPr>
          <a:xfrm>
            <a:off x="8552688" y="60350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3: add headline finding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140"/>
          </a:solidFill>
          <a:ln w="12700">
            <a:solidFill>
              <a:srgbClr val="0E21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2F7BFF"/>
          </a:solidFill>
          <a:ln w="12700">
            <a:solidFill>
              <a:srgbClr val="2F7B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0040" y="1097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Rwanda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5486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Dashboard  |  Staff, beds and equipment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109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| Portfolio | Access | Experience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92640" y="338328"/>
            <a:ext cx="2194560" cy="566928"/>
          </a:xfrm>
          <a:prstGeom prst="rect">
            <a:avLst/>
          </a:prstGeom>
          <a:solidFill>
            <a:srgbClr val="17335E">
              <a:alpha val="80000"/>
            </a:srgbClr>
          </a:solidFill>
          <a:ln w="9525">
            <a:solidFill>
              <a:srgbClr val="3C6F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09728"/>
            <a:ext cx="548640" cy="795528"/>
          </a:xfrm>
          <a:prstGeom prst="rect">
            <a:avLst/>
          </a:prstGeom>
          <a:solidFill>
            <a:srgbClr val="1D4080">
              <a:alpha val="90000"/>
            </a:srgbClr>
          </a:solidFill>
          <a:ln w="9525">
            <a:solidFill>
              <a:srgbClr val="3C6F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02368" y="438912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49840" y="438912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97312" y="438912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44784" y="438912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92256" y="438912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539728" y="438912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02368" y="640080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49840" y="640080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97312" y="640080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44784" y="640080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92256" y="640080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39728" y="640080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88752" y="201168"/>
            <a:ext cx="402336" cy="146304"/>
          </a:xfrm>
          <a:prstGeom prst="rect">
            <a:avLst/>
          </a:prstGeom>
          <a:solidFill>
            <a:srgbClr val="7FB8FF">
              <a:alpha val="9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1097280"/>
            <a:ext cx="1463040" cy="4754880"/>
          </a:xfrm>
          <a:prstGeom prst="roundRect">
            <a:avLst>
              <a:gd name="adj" fmla="val 7500"/>
            </a:avLst>
          </a:prstGeom>
          <a:solidFill>
            <a:srgbClr val="0E2140">
              <a:alpha val="60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0040" y="1188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20040" y="1600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187452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2264A">
              <a:alpha val="70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1480" y="18745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20040" y="2560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283464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2264A">
              <a:alpha val="70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11480" y="28346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320040" y="35204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Role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79476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2264A">
              <a:alpha val="70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11480" y="3794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810512" y="1097280"/>
            <a:ext cx="1936699" cy="1005840"/>
          </a:xfrm>
          <a:prstGeom prst="roundRect">
            <a:avLst>
              <a:gd name="adj" fmla="val 9091"/>
            </a:avLst>
          </a:prstGeom>
          <a:solidFill>
            <a:srgbClr val="2F7BFF">
              <a:alpha val="45000"/>
            </a:srgbClr>
          </a:solidFill>
          <a:ln w="15875">
            <a:solidFill>
              <a:srgbClr val="2F7BFF">
                <a:alpha val="9000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947672" y="1188720"/>
            <a:ext cx="16623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Staff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947672" y="1508760"/>
            <a:ext cx="16623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00,000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3875227" y="1097280"/>
            <a:ext cx="1936699" cy="1005840"/>
          </a:xfrm>
          <a:prstGeom prst="roundRect">
            <a:avLst>
              <a:gd name="adj" fmla="val 9091"/>
            </a:avLst>
          </a:prstGeom>
          <a:solidFill>
            <a:srgbClr val="7B4DFF">
              <a:alpha val="45000"/>
            </a:srgbClr>
          </a:solidFill>
          <a:ln w="15875">
            <a:solidFill>
              <a:srgbClr val="7B4DFF">
                <a:alpha val="9000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012387" y="1188720"/>
            <a:ext cx="16623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Beds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012387" y="1508760"/>
            <a:ext cx="16623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00,000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5939942" y="1097280"/>
            <a:ext cx="1936699" cy="1005840"/>
          </a:xfrm>
          <a:prstGeom prst="roundRect">
            <a:avLst>
              <a:gd name="adj" fmla="val 9091"/>
            </a:avLst>
          </a:prstGeom>
          <a:solidFill>
            <a:srgbClr val="1ABC9C">
              <a:alpha val="45000"/>
            </a:srgbClr>
          </a:solidFill>
          <a:ln w="15875">
            <a:solidFill>
              <a:srgbClr val="1ABC9C">
                <a:alpha val="9000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077102" y="1188720"/>
            <a:ext cx="16623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Rooms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077102" y="1508760"/>
            <a:ext cx="16623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00,000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8004658" y="1097280"/>
            <a:ext cx="1936699" cy="1005840"/>
          </a:xfrm>
          <a:prstGeom prst="roundRect">
            <a:avLst>
              <a:gd name="adj" fmla="val 9091"/>
            </a:avLst>
          </a:prstGeom>
          <a:solidFill>
            <a:srgbClr val="F5A623">
              <a:alpha val="45000"/>
            </a:srgbClr>
          </a:solidFill>
          <a:ln w="15875">
            <a:solidFill>
              <a:srgbClr val="F5A623">
                <a:alpha val="9000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141818" y="1188720"/>
            <a:ext cx="16623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Items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8141818" y="1508760"/>
            <a:ext cx="16623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00,000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10069373" y="1097280"/>
            <a:ext cx="1936699" cy="1005840"/>
          </a:xfrm>
          <a:prstGeom prst="roundRect">
            <a:avLst>
              <a:gd name="adj" fmla="val 9091"/>
            </a:avLst>
          </a:prstGeom>
          <a:solidFill>
            <a:srgbClr val="E5484D">
              <a:alpha val="45000"/>
            </a:srgbClr>
          </a:solidFill>
          <a:ln w="15875">
            <a:solidFill>
              <a:srgbClr val="E5484D">
                <a:alpha val="9000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206533" y="1188720"/>
            <a:ext cx="16623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Recorded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10206533" y="1508760"/>
            <a:ext cx="16623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00,000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1810512" y="2240280"/>
            <a:ext cx="3307080" cy="1737360"/>
          </a:xfrm>
          <a:prstGeom prst="roundRect">
            <a:avLst>
              <a:gd name="adj" fmla="val 6316"/>
            </a:avLst>
          </a:prstGeom>
          <a:solidFill>
            <a:srgbClr val="12264A">
              <a:alpha val="55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993392" y="2331720"/>
            <a:ext cx="294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Distribution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1993392" y="269748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area: add visual here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254752" y="2240280"/>
            <a:ext cx="3307080" cy="1737360"/>
          </a:xfrm>
          <a:prstGeom prst="roundRect">
            <a:avLst>
              <a:gd name="adj" fmla="val 6316"/>
            </a:avLst>
          </a:prstGeom>
          <a:solidFill>
            <a:srgbClr val="12264A">
              <a:alpha val="55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437632" y="2331720"/>
            <a:ext cx="294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Over Time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5437632" y="269748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area: add visual here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698992" y="2240280"/>
            <a:ext cx="3307080" cy="1737360"/>
          </a:xfrm>
          <a:prstGeom prst="roundRect">
            <a:avLst>
              <a:gd name="adj" fmla="val 6316"/>
            </a:avLst>
          </a:prstGeom>
          <a:solidFill>
            <a:srgbClr val="12264A">
              <a:alpha val="55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881872" y="2331720"/>
            <a:ext cx="294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Capacity by Facility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8881872" y="269748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area: add visual here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810512" y="4114800"/>
            <a:ext cx="3307080" cy="1737360"/>
          </a:xfrm>
          <a:prstGeom prst="roundRect">
            <a:avLst>
              <a:gd name="adj" fmla="val 6316"/>
            </a:avLst>
          </a:prstGeom>
          <a:solidFill>
            <a:srgbClr val="12264A">
              <a:alpha val="55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993392" y="4206240"/>
            <a:ext cx="294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by Type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1993392" y="457200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area: add visual here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254752" y="4114800"/>
            <a:ext cx="3307080" cy="1737360"/>
          </a:xfrm>
          <a:prstGeom prst="roundRect">
            <a:avLst>
              <a:gd name="adj" fmla="val 6316"/>
            </a:avLst>
          </a:prstGeom>
          <a:solidFill>
            <a:srgbClr val="12264A">
              <a:alpha val="55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437632" y="4206240"/>
            <a:ext cx="294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by Department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5437632" y="457200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area: add visual here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698992" y="4114800"/>
            <a:ext cx="3307080" cy="1737360"/>
          </a:xfrm>
          <a:prstGeom prst="roundRect">
            <a:avLst>
              <a:gd name="adj" fmla="val 6316"/>
            </a:avLst>
          </a:prstGeom>
          <a:solidFill>
            <a:srgbClr val="12264A">
              <a:alpha val="55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881872" y="4206240"/>
            <a:ext cx="294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Comparison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8881872" y="457200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area: add visual here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82880" y="5989320"/>
            <a:ext cx="11823192" cy="685800"/>
          </a:xfrm>
          <a:prstGeom prst="roundRect">
            <a:avLst>
              <a:gd name="adj" fmla="val 13333"/>
            </a:avLst>
          </a:prstGeom>
          <a:solidFill>
            <a:srgbClr val="0E2140">
              <a:alpha val="60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320040" y="6035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2011680" y="60350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1: add headline finding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5282184" y="60350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2: add headline finding</a:t>
            </a:r>
            <a:endParaRPr lang="en-US" sz="1000" dirty="0"/>
          </a:p>
        </p:txBody>
      </p:sp>
      <p:sp>
        <p:nvSpPr>
          <p:cNvPr id="70" name="Text 68"/>
          <p:cNvSpPr txBox="1"/>
          <p:nvPr/>
        </p:nvSpPr>
        <p:spPr>
          <a:xfrm>
            <a:off x="8552688" y="60350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3: add headline finding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140"/>
          </a:solidFill>
          <a:ln w="12700">
            <a:solidFill>
              <a:srgbClr val="0E21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2F7BFF"/>
          </a:solidFill>
          <a:ln w="12700">
            <a:solidFill>
              <a:srgbClr val="2F7B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0040" y="1097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Rwanda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5486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Experience  |  What patients tell us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109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| Portfolio | Access | Experience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92640" y="338328"/>
            <a:ext cx="2194560" cy="566928"/>
          </a:xfrm>
          <a:prstGeom prst="rect">
            <a:avLst/>
          </a:prstGeom>
          <a:solidFill>
            <a:srgbClr val="17335E">
              <a:alpha val="80000"/>
            </a:srgbClr>
          </a:solidFill>
          <a:ln w="9525">
            <a:solidFill>
              <a:srgbClr val="3C6F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09728"/>
            <a:ext cx="548640" cy="795528"/>
          </a:xfrm>
          <a:prstGeom prst="rect">
            <a:avLst/>
          </a:prstGeom>
          <a:solidFill>
            <a:srgbClr val="1D4080">
              <a:alpha val="90000"/>
            </a:srgbClr>
          </a:solidFill>
          <a:ln w="9525">
            <a:solidFill>
              <a:srgbClr val="3C6F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02368" y="438912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49840" y="438912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97312" y="438912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44784" y="438912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92256" y="438912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539728" y="438912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02368" y="640080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49840" y="640080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97312" y="640080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44784" y="640080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92256" y="640080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39728" y="640080"/>
            <a:ext cx="182880" cy="109728"/>
          </a:xfrm>
          <a:prstGeom prst="rect">
            <a:avLst/>
          </a:prstGeom>
          <a:solidFill>
            <a:srgbClr val="7FB8FF">
              <a:alpha val="8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88752" y="201168"/>
            <a:ext cx="402336" cy="146304"/>
          </a:xfrm>
          <a:prstGeom prst="rect">
            <a:avLst/>
          </a:prstGeom>
          <a:solidFill>
            <a:srgbClr val="7FB8FF">
              <a:alpha val="90000"/>
            </a:srgbClr>
          </a:solidFill>
          <a:ln w="12700">
            <a:solidFill>
              <a:srgbClr val="7FB8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1097280"/>
            <a:ext cx="1463040" cy="4754880"/>
          </a:xfrm>
          <a:prstGeom prst="roundRect">
            <a:avLst>
              <a:gd name="adj" fmla="val 7500"/>
            </a:avLst>
          </a:prstGeom>
          <a:solidFill>
            <a:srgbClr val="0E2140">
              <a:alpha val="60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0040" y="1188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20040" y="1600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187452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2264A">
              <a:alpha val="70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1480" y="18745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20040" y="2560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283464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2264A">
              <a:alpha val="70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11480" y="28346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320040" y="35204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79476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2264A">
              <a:alpha val="70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11480" y="3794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810512" y="1097280"/>
            <a:ext cx="3313176" cy="1005840"/>
          </a:xfrm>
          <a:prstGeom prst="roundRect">
            <a:avLst>
              <a:gd name="adj" fmla="val 9091"/>
            </a:avLst>
          </a:prstGeom>
          <a:solidFill>
            <a:srgbClr val="2F7BFF">
              <a:alpha val="45000"/>
            </a:srgbClr>
          </a:solidFill>
          <a:ln w="15875">
            <a:solidFill>
              <a:srgbClr val="2F7BFF">
                <a:alpha val="9000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947672" y="1188720"/>
            <a:ext cx="3038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947672" y="1508760"/>
            <a:ext cx="3038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00,000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5251704" y="1097280"/>
            <a:ext cx="3313176" cy="1005840"/>
          </a:xfrm>
          <a:prstGeom prst="roundRect">
            <a:avLst>
              <a:gd name="adj" fmla="val 9091"/>
            </a:avLst>
          </a:prstGeom>
          <a:solidFill>
            <a:srgbClr val="7B4DFF">
              <a:alpha val="45000"/>
            </a:srgbClr>
          </a:solidFill>
          <a:ln w="15875">
            <a:solidFill>
              <a:srgbClr val="7B4DFF">
                <a:alpha val="9000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388864" y="1188720"/>
            <a:ext cx="3038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Responses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388864" y="1508760"/>
            <a:ext cx="3038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00,000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8692896" y="1097280"/>
            <a:ext cx="3313176" cy="1005840"/>
          </a:xfrm>
          <a:prstGeom prst="roundRect">
            <a:avLst>
              <a:gd name="adj" fmla="val 9091"/>
            </a:avLst>
          </a:prstGeom>
          <a:solidFill>
            <a:srgbClr val="1ABC9C">
              <a:alpha val="45000"/>
            </a:srgbClr>
          </a:solidFill>
          <a:ln w="15875">
            <a:solidFill>
              <a:srgbClr val="1ABC9C">
                <a:alpha val="9000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830056" y="1188720"/>
            <a:ext cx="3038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Rate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830056" y="1508760"/>
            <a:ext cx="3038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00,000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1810512" y="2240280"/>
            <a:ext cx="3307080" cy="1737360"/>
          </a:xfrm>
          <a:prstGeom prst="roundRect">
            <a:avLst>
              <a:gd name="adj" fmla="val 6316"/>
            </a:avLst>
          </a:prstGeom>
          <a:solidFill>
            <a:srgbClr val="12264A">
              <a:alpha val="55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993392" y="2331720"/>
            <a:ext cx="294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Distribution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1993392" y="269748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area: add visual here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254752" y="2240280"/>
            <a:ext cx="3307080" cy="1737360"/>
          </a:xfrm>
          <a:prstGeom prst="roundRect">
            <a:avLst>
              <a:gd name="adj" fmla="val 6316"/>
            </a:avLst>
          </a:prstGeom>
          <a:solidFill>
            <a:srgbClr val="12264A">
              <a:alpha val="55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437632" y="2331720"/>
            <a:ext cx="294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Sentiment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5437632" y="269748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area: add visual here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698992" y="2240280"/>
            <a:ext cx="3307080" cy="1737360"/>
          </a:xfrm>
          <a:prstGeom prst="roundRect">
            <a:avLst>
              <a:gd name="adj" fmla="val 6316"/>
            </a:avLst>
          </a:prstGeom>
          <a:solidFill>
            <a:srgbClr val="12264A">
              <a:alpha val="55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881872" y="2331720"/>
            <a:ext cx="294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Rate Trend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8881872" y="269748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area: add visual here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810512" y="4114800"/>
            <a:ext cx="3307080" cy="1737360"/>
          </a:xfrm>
          <a:prstGeom prst="roundRect">
            <a:avLst>
              <a:gd name="adj" fmla="val 6316"/>
            </a:avLst>
          </a:prstGeom>
          <a:solidFill>
            <a:srgbClr val="12264A">
              <a:alpha val="55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993392" y="4206240"/>
            <a:ext cx="294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Ranking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1993392" y="457200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area: add visual here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254752" y="4114800"/>
            <a:ext cx="3307080" cy="1737360"/>
          </a:xfrm>
          <a:prstGeom prst="roundRect">
            <a:avLst>
              <a:gd name="adj" fmla="val 6316"/>
            </a:avLst>
          </a:prstGeom>
          <a:solidFill>
            <a:srgbClr val="12264A">
              <a:alpha val="55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437632" y="4206240"/>
            <a:ext cx="294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Ranking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5437632" y="457200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area: add visual here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698992" y="4114800"/>
            <a:ext cx="3307080" cy="1737360"/>
          </a:xfrm>
          <a:prstGeom prst="roundRect">
            <a:avLst>
              <a:gd name="adj" fmla="val 6316"/>
            </a:avLst>
          </a:prstGeom>
          <a:solidFill>
            <a:srgbClr val="12264A">
              <a:alpha val="55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881872" y="4206240"/>
            <a:ext cx="294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8881872" y="457200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area: add visual here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82880" y="5989320"/>
            <a:ext cx="11823192" cy="685800"/>
          </a:xfrm>
          <a:prstGeom prst="roundRect">
            <a:avLst>
              <a:gd name="adj" fmla="val 13333"/>
            </a:avLst>
          </a:prstGeom>
          <a:solidFill>
            <a:srgbClr val="0E2140">
              <a:alpha val="60000"/>
            </a:srgbClr>
          </a:solidFill>
          <a:ln w="12700">
            <a:solidFill>
              <a:srgbClr val="3C6FB0">
                <a:alpha val="70000"/>
              </a:srgbClr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320040" y="6035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2011680" y="60350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1: add headline finding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5282184" y="60350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2: add headline finding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8552688" y="60350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3: add headline finding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HealthConnect Rwanda Dashboard Template</dc:title>
  <dc:subject>PptxGenJS Presentation</dc:subject>
  <dc:creator>PptxGenJS</dc:creator>
  <cp:lastModifiedBy>PptxGenJS</cp:lastModifiedBy>
  <cp:revision>1</cp:revision>
  <dcterms:created xsi:type="dcterms:W3CDTF">2026-10-25T12:07:39Z</dcterms:created>
  <dcterms:modified xsi:type="dcterms:W3CDTF">2026-10-25T12:07:39Z</dcterms:modified>
</cp:coreProperties>
</file>